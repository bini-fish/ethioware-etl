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removePersonalInfoOnSave="1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68" r:id="rId16"/>
    <p:sldId id="269" r:id="rId17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014067"/>
    <a:srgbClr val="F2F2F2"/>
    <a:srgbClr val="3F3F3F"/>
    <a:srgbClr val="014E7D"/>
    <a:srgbClr val="013657"/>
    <a:srgbClr val="01456F"/>
    <a:srgbClr val="014B79"/>
    <a:srgbClr val="0937C9"/>
    <a:srgbClr val="002774"/>
    <a:srgbClr val="929A4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000" autoAdjust="0"/>
    <p:restoredTop sz="94434" autoAdjust="0"/>
  </p:normalViewPr>
  <p:slideViewPr>
    <p:cSldViewPr showGuides="1" snapToGrid="0">
      <p:cViewPr varScale="1">
        <p:scale>
          <a:sx n="70" d="100"/>
          <a:sy n="70" d="100"/>
        </p:scale>
        <p:origin x="738" y="4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 snapToGrid="0">
      <p:cViewPr varScale="1">
        <p:scale>
          <a:sx n="84" d="100"/>
          <a:sy n="84" d="100"/>
        </p:scale>
        <p:origin x="3828" y="90"/>
      </p:cViewPr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customXml" Target="../customXml/item1.xml"/><Relationship Id="rId22" Type="http://schemas.openxmlformats.org/officeDocument/2006/relationships/customXmlProps" Target="../customXml/itemProps1.xml"/><Relationship Id="rId23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772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6/29/2025</a:t>
            </a:fld>
            <a:endParaRPr dirty="0" lang="en-US"/>
          </a:p>
        </p:txBody>
      </p:sp>
      <p:sp>
        <p:nvSpPr>
          <p:cNvPr id="1048773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1048774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876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6/29/2025</a:t>
            </a:fld>
            <a:endParaRPr dirty="0" lang="en-US" noProof="0"/>
          </a:p>
        </p:txBody>
      </p:sp>
      <p:sp>
        <p:nvSpPr>
          <p:cNvPr id="104876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dirty="0" lang="en-US" noProof="0"/>
          </a:p>
        </p:txBody>
      </p:sp>
      <p:sp>
        <p:nvSpPr>
          <p:cNvPr id="10487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dirty="0" lang="en-US" noProof="0"/>
          </a:p>
        </p:txBody>
      </p:sp>
      <p:sp>
        <p:nvSpPr>
          <p:cNvPr id="10487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Right Triangle 10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28" name="Straight Connector 15"/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0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 indent="0" mar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  <p:cxnSp>
        <p:nvCxnSpPr>
          <p:cNvPr id="3145729" name="Straight Connector 17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1" name="Title 1" title="Title"/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/>
        </p:spPr>
        <p:txBody>
          <a:bodyPr anchor="b">
            <a:normAutofit/>
          </a:bodyPr>
          <a:lstStyle>
            <a:lvl1pPr algn="l">
              <a:defRPr b="1" sz="43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48582" name="Subtitle 2" title="Subtitle"/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/>
        </p:spPr>
        <p:txBody>
          <a:bodyPr/>
          <a:lstStyle>
            <a:lvl1pPr algn="l" indent="0" marL="0">
              <a:buNone/>
              <a:defRPr b="0" sz="240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noProof="0"/>
              <a:t>CLICK TO EDIT SUBTITLE</a:t>
            </a:r>
          </a:p>
        </p:txBody>
      </p:sp>
      <p:cxnSp>
        <p:nvCxnSpPr>
          <p:cNvPr id="3145730" name="Straight Connector 8"/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Right Triangle 18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38" name="Parallelogram 16"/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53" name="Straight Connector 17"/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9" name="Title 1" title="Title"/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/>
        </p:spPr>
        <p:txBody>
          <a:bodyPr anchor="b">
            <a:normAutofit/>
          </a:bodyPr>
          <a:lstStyle>
            <a:lvl1pPr>
              <a:defRPr b="1" sz="40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48740" name="Text Placeholder 2" title="Subtitle"/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/>
        </p:spPr>
        <p:txBody>
          <a:bodyPr>
            <a:normAutofit/>
          </a:bodyPr>
          <a:lstStyle>
            <a:lvl1pPr indent="0" marL="0">
              <a:buNone/>
              <a:defRPr b="0" sz="200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3145754" name="Straight Connector 20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1" name="Parallelogram 24"/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 noProof="0"/>
          </a:p>
        </p:txBody>
      </p:sp>
      <p:cxnSp>
        <p:nvCxnSpPr>
          <p:cNvPr id="3145755" name="Straight Connector 25"/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2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 indent="0" mar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  <p:cxnSp>
        <p:nvCxnSpPr>
          <p:cNvPr id="3145756" name="Straight Connector 15"/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3" name="Parallelogram 23"/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Content Placeholder 2" title="Bullet Points"/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/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588" name="Right Triangle 23"/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589" name="Parallelogram 24"/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 noProof="0"/>
          </a:p>
        </p:txBody>
      </p:sp>
      <p:cxnSp>
        <p:nvCxnSpPr>
          <p:cNvPr id="3145731" name="Straight Connector 33"/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/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0" name="Text Placeholder 4" title="Sub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/>
        </p:spPr>
        <p:txBody>
          <a:bodyPr/>
          <a:lstStyle>
            <a:lvl1pPr indent="0" marL="0">
              <a:buNone/>
              <a:defRPr sz="2000" spc="300">
                <a:solidFill>
                  <a:schemeClr val="accent6"/>
                </a:solidFill>
              </a:defRPr>
            </a:lvl1pPr>
            <a:lvl2pPr indent="0" marL="457200">
              <a:buNone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048591" name="Title 1" title="Title "/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/>
        </p:spPr>
        <p:txBody>
          <a:bodyPr anchor="b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048592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wrap="square">
            <a:noAutofit/>
          </a:bodyPr>
          <a:lstStyle>
            <a:lvl1pPr algn="ctr" indent="0" mar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  <p:sp>
        <p:nvSpPr>
          <p:cNvPr id="1048593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ight Triangle 34"/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601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rIns="365760" wrap="square">
            <a:noAutofit/>
          </a:bodyPr>
          <a:lstStyle>
            <a:lvl1pPr algn="r" indent="0" mar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  <p:sp>
        <p:nvSpPr>
          <p:cNvPr id="1048602" name="Content Placeholder 2" title="Bullet Points"/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/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603" name="Parallelogram 24"/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 noProof="0"/>
          </a:p>
        </p:txBody>
      </p:sp>
      <p:cxnSp>
        <p:nvCxnSpPr>
          <p:cNvPr id="3145732" name="Straight Connector 33"/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4" name="Text Placeholder 4" title="Sub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/>
        </p:spPr>
        <p:txBody>
          <a:bodyPr/>
          <a:lstStyle>
            <a:lvl1pPr indent="0" marL="0">
              <a:buNone/>
              <a:defRPr sz="2000" spc="300">
                <a:solidFill>
                  <a:schemeClr val="accent6"/>
                </a:solidFill>
              </a:defRPr>
            </a:lvl1pPr>
            <a:lvl2pPr indent="0" marL="457200">
              <a:buNone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048605" name="TextBox 16"/>
          <p:cNvSpPr txBox="1"/>
          <p:nvPr userDrawn="1"/>
        </p:nvSpPr>
        <p:spPr>
          <a:xfrm>
            <a:off x="11073384" y="237744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048606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/>
        </p:spPr>
        <p:txBody>
          <a:bodyPr anchor="b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048607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3" name="Straight Connector 21"/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22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613" name="Diagonal Stripe 25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34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4" name="Parallelogram 29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615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/>
        </p:spPr>
        <p:txBody>
          <a:bodyPr anchor="b">
            <a:normAutofit/>
          </a:bodyPr>
          <a:lstStyle>
            <a:lvl1pPr indent="0" marL="0">
              <a:lnSpc>
                <a:spcPct val="100000"/>
              </a:lnSpc>
              <a:spcBef>
                <a:spcPts val="0"/>
              </a:spcBef>
              <a:buNone/>
              <a:defRPr b="1" sz="28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48616" name="Content Placeholder 3" title="Bullet Points"/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/>
        </p:spPr>
        <p:txBody>
          <a:bodyPr>
            <a:normAutofit/>
          </a:bodyPr>
          <a:lstStyle>
            <a:lvl1pPr>
              <a:defRPr dirty="0" lang="en-US">
                <a:solidFill>
                  <a:schemeClr val="tx1"/>
                </a:solidFill>
              </a:defRPr>
            </a:lvl1pPr>
            <a:lvl2pPr>
              <a:defRPr dirty="0" lang="en-US">
                <a:solidFill>
                  <a:schemeClr val="tx1"/>
                </a:solidFill>
              </a:defRPr>
            </a:lvl2pPr>
            <a:lvl3pPr>
              <a:defRPr dirty="0" lang="en-US">
                <a:solidFill>
                  <a:schemeClr val="tx1"/>
                </a:solidFill>
              </a:defRPr>
            </a:lvl3pPr>
            <a:lvl4pPr>
              <a:defRPr dirty="0" lang="en-US">
                <a:solidFill>
                  <a:schemeClr val="tx1"/>
                </a:solidFill>
              </a:defRPr>
            </a:lvl4pPr>
            <a:lvl5pPr>
              <a:defRPr dirty="0" lang="en-IN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617" name="Text Placeholder 4"/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/>
        </p:spPr>
        <p:txBody>
          <a:bodyPr anchor="b">
            <a:normAutofit/>
          </a:bodyPr>
          <a:lstStyle>
            <a:lvl1pPr indent="0" marL="0">
              <a:lnSpc>
                <a:spcPct val="100000"/>
              </a:lnSpc>
              <a:buNone/>
              <a:defRPr b="1" sz="28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48618" name="Content Placeholder 5" title="Bullet Points"/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/>
        </p:spPr>
        <p:txBody>
          <a:bodyPr>
            <a:normAutofit/>
          </a:bodyPr>
          <a:lstStyle>
            <a:lvl1pPr>
              <a:defRPr dirty="0" lang="en-US">
                <a:solidFill>
                  <a:schemeClr val="tx1"/>
                </a:solidFill>
              </a:defRPr>
            </a:lvl1pPr>
            <a:lvl2pPr>
              <a:defRPr dirty="0" lang="en-US">
                <a:solidFill>
                  <a:schemeClr val="tx1"/>
                </a:solidFill>
              </a:defRPr>
            </a:lvl2pPr>
            <a:lvl3pPr>
              <a:defRPr dirty="0" lang="en-US">
                <a:solidFill>
                  <a:schemeClr val="tx1"/>
                </a:solidFill>
              </a:defRPr>
            </a:lvl3pPr>
            <a:lvl4pPr>
              <a:defRPr dirty="0" lang="en-US">
                <a:solidFill>
                  <a:schemeClr val="tx1"/>
                </a:solidFill>
              </a:defRPr>
            </a:lvl4pPr>
            <a:lvl5pPr>
              <a:defRPr dirty="0" lang="en-IN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619" name="Text Placeholder 4" title="Subtitle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/>
        </p:spPr>
        <p:txBody>
          <a:bodyPr/>
          <a:lstStyle>
            <a:lvl1pPr indent="0" marL="0">
              <a:buNone/>
              <a:defRPr sz="2000" spc="300">
                <a:solidFill>
                  <a:schemeClr val="accent6"/>
                </a:solidFill>
              </a:defRPr>
            </a:lvl1pPr>
            <a:lvl2pPr indent="0" marL="457200">
              <a:buNone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048620" name="TextBox 24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048621" name="Parallelogram 35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622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/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623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624" name="Title 1" title="Title "/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extBox 15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46" name="Group 27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632" name="Diagonal Stripe 28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35" name="Straight Connector 29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33" name="Parallelogram 30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634" name="Parallelogram 32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635" name="Text Placeholder 4" title="Sub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/>
        </p:spPr>
        <p:txBody>
          <a:bodyPr/>
          <a:lstStyle>
            <a:lvl1pPr indent="0" marL="0">
              <a:buNone/>
              <a:defRPr sz="2000" spc="300">
                <a:solidFill>
                  <a:schemeClr val="accent6"/>
                </a:solidFill>
              </a:defRPr>
            </a:lvl1pPr>
            <a:lvl2pPr indent="0" marL="457200">
              <a:buNone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048636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637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638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048639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400">
                <a:solidFill>
                  <a:schemeClr val="bg1"/>
                </a:solidFill>
              </a:defRPr>
            </a:lvl2pPr>
            <a:lvl3pPr indent="0" marL="914400">
              <a:buNone/>
              <a:defRPr sz="2400">
                <a:solidFill>
                  <a:schemeClr val="bg1"/>
                </a:solidFill>
              </a:defRPr>
            </a:lvl3pPr>
            <a:lvl4pPr indent="0" marL="1371600">
              <a:buNone/>
              <a:defRPr sz="2400">
                <a:solidFill>
                  <a:schemeClr val="bg1"/>
                </a:solidFill>
              </a:defRPr>
            </a:lvl4pPr>
            <a:lvl5pPr indent="0" marL="182880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1048640" name="Chart Placeholder 2" title="Chart"/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/>
        </p:spPr>
        <p:txBody>
          <a:bodyPr bIns="45710" lIns="91420" rIns="91420" tIns="45710" vert="horz">
            <a:noAutofit/>
          </a:bodyPr>
          <a:lstStyle>
            <a:lvl1pPr algn="ctr" indent="0" marL="0">
              <a:buNone/>
              <a:defRPr b="0" sz="200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dirty="0" 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able Placeholder 11" title="Table"/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/>
        </p:spPr>
        <p:txBody>
          <a:bodyPr bIns="45710" lIns="91420" rIns="91420" tIns="45710">
            <a:noAutofit/>
          </a:bodyPr>
          <a:lstStyle>
            <a:lvl1pPr algn="ctr" indent="0" marL="0">
              <a:buNone/>
              <a:defRPr baseline="0"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dirty="0" lang="en-US" noProof="0"/>
          </a:p>
        </p:txBody>
      </p:sp>
      <p:sp>
        <p:nvSpPr>
          <p:cNvPr id="1048646" name="TextBox 15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49" name="Group 25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647" name="Diagonal Stripe 26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36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8" name="Parallelogram 32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649" name="Parallelogram 35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 noProof="0"/>
          </a:p>
        </p:txBody>
      </p:sp>
      <p:sp>
        <p:nvSpPr>
          <p:cNvPr id="1048650" name="Text Placeholder 4" title="Subtitle"/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/>
        </p:spPr>
        <p:txBody>
          <a:bodyPr/>
          <a:lstStyle>
            <a:lvl1pPr indent="0" marL="0">
              <a:buNone/>
              <a:defRPr sz="2000" spc="300">
                <a:solidFill>
                  <a:schemeClr val="accent6"/>
                </a:solidFill>
              </a:defRPr>
            </a:lvl1pPr>
            <a:lvl2pPr indent="0" marL="457200">
              <a:buNone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048651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652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653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Right Triangle 3"/>
          <p:cNvSpPr/>
          <p:nvPr userDrawn="1"/>
        </p:nvSpPr>
        <p:spPr>
          <a:xfrm flipV="1">
            <a:off x="0" y="-5"/>
            <a:ext cx="11747500" cy="6299203"/>
          </a:xfrm>
          <a:prstGeom prst="rtTriangle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59" name="Picture Placeholder 31" title="Image"/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/>
          <a:solidFill>
            <a:schemeClr val="bg1">
              <a:lumMod val="85000"/>
            </a:schemeClr>
          </a:solidFill>
        </p:spPr>
        <p:txBody>
          <a:bodyPr anchor="ctr" lIns="0" tIns="0"/>
          <a:lstStyle>
            <a:lvl1pPr algn="ctr" indent="0" marL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dirty="0" lang="en-US" noProof="0"/>
              <a:t>Insert or Drag and Drop Image Here</a:t>
            </a:r>
          </a:p>
        </p:txBody>
      </p:sp>
      <p:cxnSp>
        <p:nvCxnSpPr>
          <p:cNvPr id="3145762" name="Straight Connector 5"/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0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/>
          <a:solidFill>
            <a:schemeClr val="bg1">
              <a:alpha val="90000"/>
            </a:schemeClr>
          </a:solidFill>
        </p:spPr>
        <p:txBody>
          <a:bodyPr anchor="ctr" lIns="288000">
            <a:normAutofit/>
          </a:bodyPr>
          <a:lstStyle>
            <a:lvl1pPr>
              <a:defRPr b="1" sz="3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 title="Title"/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/>
        </p:spPr>
        <p:txBody>
          <a:bodyPr anchor="b">
            <a:normAutofit/>
          </a:bodyPr>
          <a:lstStyle>
            <a:lvl1pPr algn="l">
              <a:defRPr b="1" sz="43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4868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/>
        </p:spPr>
        <p:txBody>
          <a:bodyPr/>
          <a:lstStyle>
            <a:lvl1pPr indent="0" marL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/>
        </p:spPr>
        <p:txBody>
          <a:bodyPr/>
          <a:lstStyle>
            <a:lvl1pPr indent="0" marL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048685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/>
        </p:spPr>
        <p:txBody>
          <a:bodyPr/>
          <a:lstStyle>
            <a:lvl1pPr indent="0" marL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04868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/>
        </p:spPr>
        <p:txBody>
          <a:bodyPr/>
          <a:lstStyle>
            <a:lvl1pPr indent="0" marL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048687" name="Shape 4157"/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anchor="ctr" bIns="38100" lIns="38100" rIns="38100" tIns="38100"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r="5400000" dist="127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dirty="0" lang="en-US" noProof="0"/>
          </a:p>
        </p:txBody>
      </p:sp>
      <p:sp>
        <p:nvSpPr>
          <p:cNvPr id="1048688" name="Shape 4186"/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anchor="ctr" bIns="38100" lIns="38100" rIns="38100" tIns="38100"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r="5400000" dist="127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dirty="0" lang="en-US" noProof="0"/>
          </a:p>
        </p:txBody>
      </p:sp>
      <p:sp>
        <p:nvSpPr>
          <p:cNvPr id="1048689" name="Shape 4379"/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anchor="ctr" bIns="38100" lIns="38100" rIns="38100" tIns="38100"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r="5400000" dist="127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dirty="0" lang="en-US" noProof="0"/>
          </a:p>
        </p:txBody>
      </p:sp>
      <p:sp>
        <p:nvSpPr>
          <p:cNvPr id="1048690" name="Shape 4487"/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anchor="ctr" bIns="38100" lIns="38100" rIns="38100" tIns="38100"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r="5400000" dist="127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dirty="0" lang="en-US" noProof="0"/>
          </a:p>
        </p:txBody>
      </p:sp>
      <p:sp>
        <p:nvSpPr>
          <p:cNvPr id="1048691" name="Right Triangle 20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37" name="Straight Connector 21"/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8" name="Straight Connector 22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9" name="Straight Connector 23"/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92" name="Picture Placeholder 24"/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anchor="ctr" wrap="square">
            <a:noAutofit/>
          </a:bodyPr>
          <a:lstStyle>
            <a:lvl1pPr algn="ctr" indent="0" mar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Right Triangle 10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57" name="Straight Connector 15"/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8" name="Straight Connector 17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45" name="Title 1" title="Title"/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/>
        </p:spPr>
        <p:txBody>
          <a:bodyPr anchor="b">
            <a:normAutofit/>
          </a:bodyPr>
          <a:lstStyle>
            <a:lvl1pPr algn="l">
              <a:defRPr b="1" sz="43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48746" name="Subtitle 2" title="Subtitle"/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/>
        </p:spPr>
        <p:txBody>
          <a:bodyPr/>
          <a:lstStyle>
            <a:lvl1pPr algn="l" indent="0" marL="0">
              <a:buNone/>
              <a:defRPr b="0" sz="240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3145759" name="Straight Connector 8"/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Right Triangle 18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sp>
        <p:nvSpPr>
          <p:cNvPr id="1048713" name="Parallelogram 16"/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43" name="Straight Connector 17"/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4" name="Title 1" title="Title"/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/>
        </p:spPr>
        <p:txBody>
          <a:bodyPr anchor="b">
            <a:normAutofit/>
          </a:bodyPr>
          <a:lstStyle>
            <a:lvl1pPr>
              <a:defRPr b="1" sz="40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48715" name="Text Placeholder 2" title="Subtitle"/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/>
        </p:spPr>
        <p:txBody>
          <a:bodyPr>
            <a:normAutofit/>
          </a:bodyPr>
          <a:lstStyle>
            <a:lvl1pPr indent="0" marL="0">
              <a:buNone/>
              <a:defRPr b="0" sz="200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3145744" name="Straight Connector 20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6" name="Parallelogram 24"/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/>
            <a:endParaRPr dirty="0" lang="en-US" noProof="0"/>
          </a:p>
        </p:txBody>
      </p:sp>
      <p:cxnSp>
        <p:nvCxnSpPr>
          <p:cNvPr id="3145745" name="Straight Connector 25"/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6" name="Straight Connector 15"/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7" name="Parallelogram 23"/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51" name="Straight Connector 21"/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22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729" name="Diagonal Stripe 25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52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30" name="Parallelogram 29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31" name="TextBox 24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048732" name="Parallelogram 35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733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/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734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35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048736" name="Content Placeholder 2"/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41" name="Straight Connector 21"/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22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703" name="Diagonal Stripe 25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42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04" name="Parallelogram 29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05" name="TextBox 24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048706" name="Parallelogram 35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707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/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708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09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048710" name="Content Placeholder 2"/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71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60" name="Straight Connector 21"/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22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747" name="Diagonal Stripe 25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61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48" name="Parallelogram 29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49" name="TextBox 24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048750" name="Parallelogram 35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751" name="Footer Placeholder 1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/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752" name="Slide Number Placeholder 2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753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/>
        </p:spPr>
        <p:txBody>
          <a:bodyPr anchor="b" bIns="0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/>
        </p:spPr>
        <p:txBody>
          <a:bodyPr anchor="b"/>
          <a:lstStyle>
            <a:lvl1pPr indent="0" marL="0">
              <a:buNone/>
              <a:defRPr b="1" dirty="0" lang="en-US">
                <a:solidFill>
                  <a:schemeClr val="accent6"/>
                </a:solidFill>
              </a:defRPr>
            </a:lvl1pPr>
          </a:lstStyle>
          <a:p>
            <a:pPr indent="-228600" lvl="0" marL="228600"/>
            <a:r>
              <a:rPr lang="en-US" noProof="0" smtClean="0"/>
              <a:t>Click to edit Master text styles</a:t>
            </a:r>
          </a:p>
        </p:txBody>
      </p:sp>
      <p:sp>
        <p:nvSpPr>
          <p:cNvPr id="10487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/>
        </p:spPr>
        <p:txBody>
          <a:bodyPr anchor="b"/>
          <a:lstStyle>
            <a:lvl1pPr indent="0" marL="0">
              <a:buNone/>
              <a:defRPr b="1" sz="2400">
                <a:solidFill>
                  <a:schemeClr val="accent6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4875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48757" name="Content Placeholder 3"/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Right Triangle 10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47" name="Straight Connector 15"/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8" name="Straight Connector 17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19" name="Title 1" title="Title"/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/>
        </p:spPr>
        <p:txBody>
          <a:bodyPr anchor="b">
            <a:normAutofit/>
          </a:bodyPr>
          <a:lstStyle>
            <a:lvl1pPr algn="r" indent="0" marL="0">
              <a:buFont typeface="Arial" panose="020B0604020202020204" pitchFamily="34" charset="0"/>
              <a:buNone/>
              <a:defRPr b="1" sz="43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3145749" name="Straight Connector 8"/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2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/>
        </p:spPr>
        <p:txBody>
          <a:bodyPr/>
          <a:lstStyle>
            <a:lvl1pPr algn="r" indent="0" marL="0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48721" name="Content Placeholder 2"/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/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Right Triangle 10"/>
          <p:cNvSpPr/>
          <p:nvPr userDrawn="1"/>
        </p:nvSpPr>
        <p:spPr>
          <a:xfrm flipV="1">
            <a:off x="0" y="-6"/>
            <a:ext cx="10625328" cy="5404110"/>
          </a:xfrm>
          <a:prstGeom prst="rtTriangle"/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 noProof="0"/>
          </a:p>
        </p:txBody>
      </p:sp>
      <p:cxnSp>
        <p:nvCxnSpPr>
          <p:cNvPr id="3145763" name="Straight Connector 15"/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/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64" name="Straight Connector 17"/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2" name="Title 1" title="Title"/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/>
        </p:spPr>
        <p:txBody>
          <a:bodyPr anchor="b">
            <a:normAutofit/>
          </a:bodyPr>
          <a:lstStyle>
            <a:lvl1pPr algn="r" indent="0" marL="0">
              <a:buFont typeface="Arial" panose="020B0604020202020204" pitchFamily="34" charset="0"/>
              <a:buNone/>
              <a:defRPr b="1" sz="43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3145765" name="Straight Connector 8"/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3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/>
        </p:spPr>
        <p:txBody>
          <a:bodyPr/>
          <a:lstStyle>
            <a:lvl1pPr algn="r" indent="0" marL="0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48764" name="Picture Placeholder 2"/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dirty="0" 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extBox 17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68" name="Group 25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724" name="Diagonal Stripe 26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50" name="Straight Connector 27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25" name="Parallelogram 28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726" name="Parallelogram 29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72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7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extBox 20"/>
          <p:cNvSpPr txBox="1"/>
          <p:nvPr userDrawn="1"/>
        </p:nvSpPr>
        <p:spPr>
          <a:xfrm>
            <a:off x="11072378" y="235732"/>
            <a:ext cx="690880" cy="59944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400" lang="en-US" noProof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61" name="Group 26"/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1048697" name="Diagonal Stripe 27"/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>
                <a:solidFill>
                  <a:schemeClr val="tx1"/>
                </a:solidFill>
              </a:endParaRPr>
            </a:p>
          </p:txBody>
        </p:sp>
        <p:cxnSp>
          <p:nvCxnSpPr>
            <p:cNvPr id="3145740" name="Straight Connector 28"/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/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98" name="Parallelogram 29"/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dirty="0" lang="en-US" noProof="0"/>
            </a:p>
          </p:txBody>
        </p:sp>
      </p:grpSp>
      <p:sp>
        <p:nvSpPr>
          <p:cNvPr id="1048699" name="Parallelogram 30"/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<a:prstTxWarp prst="textNoShape"/>
            <a:noAutofit/>
          </a:bodyPr>
          <a:p>
            <a:pPr algn="ctr" lvl="0"/>
            <a:endParaRPr dirty="0" lang="en-US" noProof="0"/>
          </a:p>
        </p:txBody>
      </p:sp>
      <p:sp>
        <p:nvSpPr>
          <p:cNvPr id="1048700" name="Title 1" title="Title "/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/>
        </p:spPr>
        <p:txBody>
          <a:bodyPr anchor="b">
            <a:normAutofit/>
          </a:bodyPr>
          <a:lstStyle>
            <a:lvl1pPr>
              <a:defRPr b="1" sz="44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04870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dirty="0" lang="en-US" noProof="0"/>
              <a:t>Add a footer</a:t>
            </a:r>
          </a:p>
        </p:txBody>
      </p:sp>
      <p:sp>
        <p:nvSpPr>
          <p:cNvPr id="104870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57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t>‹#›</a:t>
            </a:fld>
            <a:endParaRPr dirty="0" lang="en-US" noProof="0"/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/>
        </p:spPr>
        <p:txBody>
          <a:bodyPr anchor="b" bIns="0" lIns="91440" rIns="91440" rtlCol="0" tIns="45720" vert="horz">
            <a:normAutofit/>
          </a:bodyPr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dt="1" ftr="1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sz="4400" kern="1200" lang="en-IN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dirty="0" sz="24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dirty="0" sz="20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dirty="0" sz="18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dirty="0" sz="16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dirty="0" sz="1600" kern="1200" lang="en-IN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Placeholder 16" title="Building image"/>
          <p:cNvPicPr>
            <a:picLocks noChangeAspect="1" noGrp="1"/>
          </p:cNvPicPr>
          <p:nvPr>
            <p:ph type="pic" sz="quarter" idx="13"/>
          </p:nvPr>
        </p:nvPicPr>
        <p:blipFill>
          <a:blip xmlns:r="http://schemas.openxmlformats.org/officeDocument/2006/relationships" r:embed="rId1"/>
          <a:srcRect l="20784" r="20784"/>
          <a:stretch>
            <a:fillRect/>
          </a:stretch>
        </p:blipFill>
        <p:spPr>
          <a:xfrm>
            <a:off x="-42476" y="0"/>
            <a:ext cx="12234476" cy="6858001"/>
          </a:xfrm>
        </p:spPr>
      </p:pic>
      <p:sp>
        <p:nvSpPr>
          <p:cNvPr id="1048583" name="Hexagon 17" descr="Solid dark colored hexagon in the middle of image accent"/>
          <p:cNvSpPr/>
          <p:nvPr/>
        </p:nvSpPr>
        <p:spPr>
          <a:xfrm rot="16200000">
            <a:off x="5369985" y="2713076"/>
            <a:ext cx="1943099" cy="2080172"/>
          </a:xfrm>
          <a:prstGeom prst="hexagon"/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sp>
        <p:nvSpPr>
          <p:cNvPr id="1048584" name="Title 1"/>
          <p:cNvSpPr>
            <a:spLocks noGrp="1"/>
          </p:cNvSpPr>
          <p:nvPr>
            <p:ph type="ctrTitle"/>
          </p:nvPr>
        </p:nvSpPr>
        <p:spPr>
          <a:xfrm>
            <a:off x="3915851" y="1527295"/>
            <a:ext cx="5189746" cy="794170"/>
          </a:xfrm>
          <a:effectLst>
            <a:reflection algn="bl" dir="5400000" dist="50800" endPos="65000" rotWithShape="0" stA="60000" sy="-100000"/>
          </a:effectLst>
        </p:spPr>
        <p:txBody>
          <a:bodyPr>
            <a:noAutofit/>
          </a:bodyPr>
          <a:p>
            <a:r>
              <a:rPr dirty="0" sz="4400" lang="en-US" smtClean="0"/>
              <a:t>ENGINEERING BASICS</a:t>
            </a:r>
            <a:endParaRPr dirty="0" sz="4400" lang="en-US"/>
          </a:p>
        </p:txBody>
      </p:sp>
      <p:sp>
        <p:nvSpPr>
          <p:cNvPr id="1048585" name="Subtitle 2"/>
          <p:cNvSpPr>
            <a:spLocks noGrp="1"/>
          </p:cNvSpPr>
          <p:nvPr>
            <p:ph type="subTitle" idx="1"/>
          </p:nvPr>
        </p:nvSpPr>
        <p:spPr>
          <a:xfrm>
            <a:off x="4640725" y="4922642"/>
            <a:ext cx="4854339" cy="1257574"/>
          </a:xfrm>
        </p:spPr>
        <p:txBody>
          <a:bodyPr/>
          <a:p>
            <a:r>
              <a:rPr b="1" dirty="0" lang="en-US" smtClean="0">
                <a:solidFill>
                  <a:srgbClr val="014067"/>
                </a:solidFill>
              </a:rPr>
              <a:t>BY: LENCHO TEREFE</a:t>
            </a:r>
          </a:p>
          <a:p>
            <a:r>
              <a:rPr b="1" dirty="0" lang="en-US" smtClean="0">
                <a:solidFill>
                  <a:srgbClr val="014067"/>
                </a:solidFill>
              </a:rPr>
              <a:t>    JUNE 2025</a:t>
            </a:r>
            <a:endParaRPr b="1" dirty="0" lang="en-US">
              <a:solidFill>
                <a:srgbClr val="014067"/>
              </a:solidFill>
            </a:endParaRPr>
          </a:p>
        </p:txBody>
      </p:sp>
      <p:sp>
        <p:nvSpPr>
          <p:cNvPr id="1048586" name="Rectangle 3"/>
          <p:cNvSpPr/>
          <p:nvPr/>
        </p:nvSpPr>
        <p:spPr>
          <a:xfrm rot="20758340">
            <a:off x="-8868" y="979079"/>
            <a:ext cx="4043681" cy="447041"/>
          </a:xfrm>
          <a:prstGeom prst="rect"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p>
            <a:pPr fontAlgn="base"/>
            <a:r>
              <a:rPr b="1" dirty="0" sz="2400" lang="en-US" err="1" smtClean="0">
                <a:solidFill>
                  <a:srgbClr val="002060"/>
                </a:solidFill>
                <a:latin typeface="-apple-system"/>
              </a:rPr>
              <a:t>Ethioware</a:t>
            </a:r>
            <a:r>
              <a:rPr b="1" dirty="0" sz="2400" lang="en-US" smtClean="0">
                <a:solidFill>
                  <a:srgbClr val="002060"/>
                </a:solidFill>
                <a:latin typeface="-apple-system"/>
              </a:rPr>
              <a:t> </a:t>
            </a:r>
            <a:r>
              <a:rPr b="1" dirty="0" sz="2400" lang="en-US">
                <a:solidFill>
                  <a:srgbClr val="002060"/>
                </a:solidFill>
                <a:latin typeface="-apple-system"/>
              </a:rPr>
              <a:t>- </a:t>
            </a:r>
            <a:r>
              <a:rPr b="1" dirty="0" sz="2400" lang="en-US" err="1" smtClean="0">
                <a:solidFill>
                  <a:srgbClr val="002060"/>
                </a:solidFill>
                <a:latin typeface="-apple-system"/>
              </a:rPr>
              <a:t>EdTech</a:t>
            </a:r>
            <a:r>
              <a:rPr b="1" dirty="0" sz="2400" lang="en-US" smtClean="0">
                <a:solidFill>
                  <a:srgbClr val="002060"/>
                </a:solidFill>
                <a:latin typeface="-apple-system"/>
              </a:rPr>
              <a:t> </a:t>
            </a:r>
            <a:r>
              <a:rPr b="1" dirty="0" sz="2400" lang="en-US">
                <a:solidFill>
                  <a:srgbClr val="002060"/>
                </a:solidFill>
                <a:latin typeface="-apple-system"/>
              </a:rPr>
              <a:t>Initiative</a:t>
            </a:r>
            <a:endParaRPr b="1" dirty="0" sz="2400" i="0" lang="en-US">
              <a:solidFill>
                <a:srgbClr val="002060"/>
              </a:solidFill>
              <a:effectLst/>
              <a:latin typeface="-apple-system"/>
            </a:endParaRPr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-76892" y="7917"/>
            <a:ext cx="1452743" cy="1185334"/>
          </a:xfrm>
          <a:prstGeom prst="ellipse"/>
          <a:ln>
            <a:noFill/>
          </a:ln>
          <a:effectLst>
            <a:softEdge rad="112500"/>
          </a:effectLst>
        </p:spPr>
      </p:pic>
      <p:pic>
        <p:nvPicPr>
          <p:cNvPr id="2097154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214155" y="2781612"/>
            <a:ext cx="2167466" cy="19431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7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8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9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id="12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14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19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1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22"/>
                                        <p:tgtEl>
                                          <p:spTgt spid="104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4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27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28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#ppt_w*sin(2.5*pi*$)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2000" fill="hold" id="29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0">
                      <p:stCondLst>
                        <p:cond delay="indefinite"/>
                      </p:stCondLst>
                      <p:childTnLst>
                        <p:par>
                          <p:cTn fill="hold" id="3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2" nodeType="clickEffect" presetClass="entr" presetID="26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80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822" id="3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3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37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32" id="38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64" id="39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dur="26" id="40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decel="50000" dur="166" id="41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42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decel="50000" dur="166" id="43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44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decel="50000" dur="166" id="45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4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decel="50000" dur="166" id="47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8">
                      <p:stCondLst>
                        <p:cond delay="indefinite"/>
                      </p:stCondLst>
                      <p:childTnLst>
                        <p:par>
                          <p:cTn fill="hold" id="4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0" nodeType="clickEffect" presetClass="entr" presetID="26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80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822" id="5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5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55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32" id="56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64" id="57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dur="26" id="58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decel="50000" dur="166" id="59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60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decel="50000" dur="166" id="61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62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decel="50000" dur="166" id="63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64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decel="50000" dur="166" id="65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4" grpId="0"/>
      <p:bldP spid="1048585" grpId="0" build="p"/>
      <p:bldP spid="104858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0" dirty="0" lang="en-US" smtClean="0"/>
              <a:t>INTRO TO ENGINEERING</a:t>
            </a:r>
            <a:endParaRPr b="0" dirty="0" lang="en-US"/>
          </a:p>
        </p:txBody>
      </p:sp>
      <p:sp>
        <p:nvSpPr>
          <p:cNvPr id="1048596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dirty="0" lang="en-US" smtClean="0"/>
              <a:t>IMAGINE THE WORLD WITHOUT ENGINEERING!</a:t>
            </a:r>
            <a:endParaRPr dirty="0" lang="en-US"/>
          </a:p>
        </p:txBody>
      </p:sp>
      <p:sp>
        <p:nvSpPr>
          <p:cNvPr id="104859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66667" lnSpcReduction="20000"/>
          </a:bodyPr>
          <a:p>
            <a:pPr algn="just" fontAlgn="ctr" indent="0" marL="0">
              <a:buNone/>
            </a:pPr>
            <a:r>
              <a:rPr dirty="0" sz="3600" lang="en-US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is the application of scientific and mathematical principles to design, build, and maintain structures, machines, and systems</a:t>
            </a:r>
            <a:r>
              <a:rPr dirty="0" sz="3600" lang="en-US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ctr" indent="0" marL="0">
              <a:buNone/>
            </a:pPr>
            <a:r>
              <a:rPr dirty="0" sz="3600" lang="en-US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It involves creative problem-solving and the practical application of knowledge to meet societal </a:t>
            </a:r>
            <a:r>
              <a:rPr dirty="0" sz="3600" lang="en-US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needs.</a:t>
            </a:r>
            <a:r>
              <a:rPr dirty="0" sz="3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 indent="0" marL="0">
              <a:buNone/>
            </a:pPr>
            <a:r>
              <a:rPr dirty="0" lang="en-US"/>
              <a:t/>
            </a:r>
            <a:br>
              <a:rPr dirty="0" lang="en-US"/>
            </a:br>
            <a:endParaRPr dirty="0" lang="en-US"/>
          </a:p>
        </p:txBody>
      </p:sp>
      <p:pic>
        <p:nvPicPr>
          <p:cNvPr id="2097155" name="Picture Placeholder 12" title="Skyline"/>
          <p:cNvPicPr>
            <a:picLocks noChangeAspect="1" noGrp="1"/>
          </p:cNvPicPr>
          <p:nvPr>
            <p:ph type="pic" sz="quarter" idx="10"/>
          </p:nvPr>
        </p:nvPicPr>
        <p:blipFill rotWithShape="1">
          <a:blip xmlns:r="http://schemas.openxmlformats.org/officeDocument/2006/relationships" r:embed="rId1"/>
          <a:srcRect l="23313" r="23313"/>
          <a:stretch>
            <a:fillRect/>
          </a:stretch>
        </p:blipFill>
        <p:spPr/>
      </p:pic>
      <p:sp>
        <p:nvSpPr>
          <p:cNvPr id="1048598" name="Footer Placeholder 10"/>
          <p:cNvSpPr>
            <a:spLocks noGrp="1"/>
          </p:cNvSpPr>
          <p:nvPr>
            <p:ph type="ftr" sz="quarter" idx="14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599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8699F50C-BE38-4BD0-BA84-9B090E1F2B9B}" type="slidenum">
              <a:rPr lang="en-US" smtClean="0"/>
              <a:t>2</a:t>
            </a:fld>
            <a:endParaRPr dirty="0" lang="en-US"/>
          </a:p>
        </p:txBody>
      </p:sp>
    </p:spTree>
  </p:cSld>
  <p:clrMapOvr>
    <a:masterClrMapping/>
  </p:clrMapOvr>
  <p:transition spd="med">
    <p:pull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7"/>
                                        <p:tgtEl>
                                          <p:spTgt spid="1048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5" grpId="0"/>
      <p:bldP spid="104859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AP physics and AP calculus</a:t>
            </a:r>
            <a:endParaRPr b="0" dirty="0" lang="en-US"/>
          </a:p>
        </p:txBody>
      </p:sp>
      <p:sp>
        <p:nvSpPr>
          <p:cNvPr id="1048610" name="Content Placeholder 6"/>
          <p:cNvSpPr>
            <a:spLocks noGrp="1"/>
          </p:cNvSpPr>
          <p:nvPr>
            <p:ph idx="1"/>
          </p:nvPr>
        </p:nvSpPr>
        <p:spPr>
          <a:xfrm>
            <a:off x="531378" y="2961062"/>
            <a:ext cx="4942829" cy="2958275"/>
          </a:xfrm>
        </p:spPr>
        <p:txBody>
          <a:bodyPr>
            <a:noAutofit/>
          </a:bodyPr>
          <a:p>
            <a:pPr lvl="0"/>
            <a:r>
              <a:rPr dirty="0" sz="2000" lang="en-US">
                <a:solidFill>
                  <a:srgbClr val="00B0F0"/>
                </a:solidFill>
              </a:rPr>
              <a:t>AP Physics and AP Calculus are highly relevant and beneficial for students interested in engineering</a:t>
            </a:r>
            <a:r>
              <a:rPr dirty="0" sz="2000" lang="en-US" smtClean="0">
                <a:solidFill>
                  <a:srgbClr val="00B0F0"/>
                </a:solidFill>
              </a:rPr>
              <a:t>.</a:t>
            </a:r>
          </a:p>
          <a:p>
            <a:pPr lvl="0"/>
            <a:r>
              <a:rPr dirty="0" sz="2000" lang="en-US">
                <a:solidFill>
                  <a:srgbClr val="00B0F0"/>
                </a:solidFill>
              </a:rPr>
              <a:t> AP Physics provides a strong foundation in physics principles, which are fundamental to many engineering disciplines, while AP Calculus introduces the mathematical tools (derivatives and integrals) essential for modeling and solving engineering problems.  </a:t>
            </a:r>
          </a:p>
        </p:txBody>
      </p:sp>
      <p:pic>
        <p:nvPicPr>
          <p:cNvPr id="2097156" name="Picture Placeholder 58"/>
          <p:cNvPicPr>
            <a:picLocks noChangeAspect="1" noGrp="1"/>
          </p:cNvPicPr>
          <p:nvPr>
            <p:ph type="pic" sz="quarter" idx="14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865377" y="1308484"/>
            <a:ext cx="6326623" cy="5047866"/>
          </a:xfrm>
        </p:spPr>
      </p:pic>
      <p:sp>
        <p:nvSpPr>
          <p:cNvPr id="1048611" name="Footer Placeholder 34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12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fld id="{8699F50C-BE38-4BD0-BA84-9B090E1F2B9B}" type="slidenum">
              <a:rPr lang="en-US" smtClean="0"/>
              <a:t>3</a:t>
            </a:fld>
            <a:endParaRPr dirty="0" lang="en-US"/>
          </a:p>
        </p:txBody>
      </p:sp>
    </p:spTree>
  </p:cSld>
  <p:clrMapOvr>
    <a:masterClrMapping/>
  </p:clrMapOvr>
  <p:transition spd="slow">
    <p:push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7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4"/>
                                        <p:tgtEl>
                                          <p:spTgt spid="209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TYPES OF ENGINEERING</a:t>
            </a:r>
            <a:endParaRPr b="0" dirty="0" lang="en-US"/>
          </a:p>
        </p:txBody>
      </p:sp>
      <p:sp>
        <p:nvSpPr>
          <p:cNvPr id="1048626" name="Text Placeholder 1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 smtClean="0">
                <a:solidFill>
                  <a:srgbClr val="002060"/>
                </a:solidFill>
              </a:rPr>
              <a:t>AEROSPACE</a:t>
            </a:r>
            <a:endParaRPr dirty="0" lang="en-US">
              <a:solidFill>
                <a:srgbClr val="002060"/>
              </a:solidFill>
            </a:endParaRPr>
          </a:p>
        </p:txBody>
      </p:sp>
      <p:pic>
        <p:nvPicPr>
          <p:cNvPr id="2097157" name="Content Placeholder 2"/>
          <p:cNvPicPr>
            <a:picLocks noChangeAspect="1" noGrp="1"/>
          </p:cNvPicPr>
          <p:nvPr>
            <p:ph sz="half" idx="13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18678" y="3064933"/>
            <a:ext cx="4263666" cy="2580217"/>
          </a:xfrm>
        </p:spPr>
      </p:pic>
      <p:sp>
        <p:nvSpPr>
          <p:cNvPr id="104862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5082339" y="2603655"/>
            <a:ext cx="5475600" cy="1044055"/>
          </a:xfrm>
        </p:spPr>
        <p:txBody>
          <a:bodyPr>
            <a:noAutofit/>
          </a:bodyPr>
          <a:p>
            <a:pPr algn="just"/>
            <a:r>
              <a:rPr b="0" dirty="0" sz="2000" lang="en-US">
                <a:solidFill>
                  <a:srgbClr val="00B0F0"/>
                </a:solidFill>
              </a:rPr>
              <a:t>Aerospace engineering is </a:t>
            </a:r>
            <a:r>
              <a:rPr dirty="0" sz="2000" lang="en-US">
                <a:solidFill>
                  <a:srgbClr val="00B0F0"/>
                </a:solidFill>
              </a:rPr>
              <a:t>a field focused on designing, developing, manufacturing, and testing aircraft and spacecraft</a:t>
            </a:r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dirty="0" lang="en-US"/>
              <a:t>Add a footer</a:t>
            </a:r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t>4</a:t>
            </a:fld>
            <a:endParaRPr dirty="0" lang="en-US"/>
          </a:p>
        </p:txBody>
      </p:sp>
      <p:sp>
        <p:nvSpPr>
          <p:cNvPr id="1048630" name="Rectangle 1"/>
          <p:cNvSpPr>
            <a:spLocks noGrp="1" noChangeArrowheads="1"/>
          </p:cNvSpPr>
          <p:nvPr>
            <p:ph sz="quarter" idx="15"/>
          </p:nvPr>
        </p:nvSpPr>
        <p:spPr bwMode="auto">
          <a:xfrm>
            <a:off x="5082339" y="3647710"/>
            <a:ext cx="6804859" cy="3317810"/>
          </a:xfrm>
          <a:prstGeom prst="rect"/>
          <a:solidFill>
            <a:srgbClr val="FFFFFF"/>
          </a:solidFill>
          <a:ln>
            <a:noFill/>
          </a:ln>
          <a:effectLst/>
        </p:spPr>
        <p:txBody>
          <a:bodyPr anchor="ctr" anchorCtr="0" bIns="179331" compatLnSpc="1" lIns="0" numCol="1" rIns="0" tIns="88872" vert="horz" wrap="square">
            <a:prstTxWarp prst="textNoShape"/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Aerospace engineers work in various industries, including:</a:t>
            </a: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rgbClr val="00B0F0"/>
              </a:solidFill>
              <a:effectLst/>
            </a:endParaRP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Aviation: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 Designing and building commercial and military aircraft. </a:t>
            </a: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Space Exploration: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 Developing spacecraft, satellites, and launch vehicles for NASA and other space agencies. </a:t>
            </a: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Defense: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 Designing and manufacturing military aircraft, missiles, and defense systems. </a:t>
            </a: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baseline="0" b="1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Research and Development:</a:t>
            </a:r>
            <a:r>
              <a:rPr baseline="0" b="0" cap="none" dirty="0" sz="2000" i="0" kumimoji="0" lang="en-US" normalizeH="0" strike="noStrike" u="none" smtClean="0">
                <a:ln>
                  <a:noFill/>
                </a:ln>
                <a:solidFill>
                  <a:srgbClr val="00B0F0"/>
                </a:solidFill>
                <a:effectLst/>
                <a:latin typeface="Google Sans"/>
              </a:rPr>
              <a:t> Conducting research to advance aerospace technologies. </a:t>
            </a: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dirty="0" sz="20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mph" presetID="26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dur="500" id="6" tmFilter="0, 0; .2, .5; .8, .5; 1, 0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autoRev="1" dur="250" fill="hold" id="7"/>
                                        <p:tgtEl>
                                          <p:spTgt spid="10486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2"/>
                                        <p:tgtEl>
                                          <p:spTgt spid="209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CIVIL</a:t>
            </a:r>
            <a:endParaRPr b="0" dirty="0" lang="en-US"/>
          </a:p>
        </p:txBody>
      </p:sp>
      <p:sp>
        <p:nvSpPr>
          <p:cNvPr id="1048642" name="Text Placeholder 32"/>
          <p:cNvSpPr>
            <a:spLocks noGrp="1"/>
          </p:cNvSpPr>
          <p:nvPr>
            <p:ph type="body" sz="quarter" idx="19"/>
          </p:nvPr>
        </p:nvSpPr>
        <p:spPr/>
        <p:txBody>
          <a:bodyPr/>
          <a:p>
            <a:pPr algn="just">
              <a:buClr>
                <a:schemeClr val="accent2"/>
              </a:buClr>
            </a:pPr>
            <a:r>
              <a:rPr dirty="0" lang="en-US">
                <a:solidFill>
                  <a:srgbClr val="00B0F0"/>
                </a:solidFill>
              </a:rPr>
              <a:t>Civil engineering is the branch of engineering focused on the design, construction, and maintenance of the physical and naturally built environment, including infrastructure like roads, bridges, and </a:t>
            </a:r>
            <a:r>
              <a:rPr dirty="0" lang="en-US" smtClean="0">
                <a:solidFill>
                  <a:srgbClr val="00B0F0"/>
                </a:solidFill>
              </a:rPr>
              <a:t>buildings. </a:t>
            </a:r>
            <a:endParaRPr dirty="0" lang="en-US">
              <a:solidFill>
                <a:srgbClr val="00B0F0"/>
              </a:solidFill>
            </a:endParaRPr>
          </a:p>
        </p:txBody>
      </p:sp>
      <p:sp>
        <p:nvSpPr>
          <p:cNvPr id="104864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5</a:t>
            </a:fld>
            <a:endParaRPr dirty="0" lang="en-US"/>
          </a:p>
        </p:txBody>
      </p:sp>
      <p:pic>
        <p:nvPicPr>
          <p:cNvPr id="2097158" name="Chart Placeholder 5"/>
          <p:cNvPicPr>
            <a:picLocks noChangeAspect="1" noGrp="1"/>
          </p:cNvPicPr>
          <p:nvPr>
            <p:ph type="chart" sz="quarter" idx="10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197600" y="2005762"/>
            <a:ext cx="5689598" cy="3167416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6"/>
                                        <p:tgtEl>
                                          <p:spTgt spid="209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ELECTRICAL</a:t>
            </a:r>
            <a:endParaRPr b="0" dirty="0" lang="en-US"/>
          </a:p>
        </p:txBody>
      </p:sp>
      <p:sp>
        <p:nvSpPr>
          <p:cNvPr id="1048655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56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6</a:t>
            </a:fld>
            <a:endParaRPr dirty="0" lang="en-US"/>
          </a:p>
        </p:txBody>
      </p:sp>
      <p:pic>
        <p:nvPicPr>
          <p:cNvPr id="2097159" name="Table Placeholder 4"/>
          <p:cNvPicPr>
            <a:picLocks noChangeAspect="1" noGrp="1"/>
          </p:cNvPicPr>
          <p:nvPr>
            <p:ph type="tbl" sz="quarter" idx="1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94492" y="2665413"/>
            <a:ext cx="5535766" cy="3432175"/>
          </a:xfrm>
        </p:spPr>
      </p:pic>
      <p:sp>
        <p:nvSpPr>
          <p:cNvPr id="1048657" name="TextBox 5"/>
          <p:cNvSpPr txBox="1"/>
          <p:nvPr/>
        </p:nvSpPr>
        <p:spPr>
          <a:xfrm>
            <a:off x="7061200" y="2665413"/>
            <a:ext cx="4504267" cy="1869441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sz="2400" lang="en-US">
                <a:solidFill>
                  <a:srgbClr val="00B0F0"/>
                </a:solidFill>
              </a:rPr>
              <a:t>Electrical engineering is a field focused on the study, design, and application of electrical and electronic systems, devices, and equipment.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6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80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822" id="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3"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664" id="10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9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332" id="11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27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64" id="12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#ppt_y-sin(pi*$)/81"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dur="26" id="13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decel="50000" dur="166" id="14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5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decel="50000" dur="166" id="1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7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decel="50000" dur="166" id="18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dur="26" id="19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decel="50000" dur="166" id="2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dur="500" id="25"/>
                                        <p:tgtEl>
                                          <p:spTgt spid="209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MECHANICAL</a:t>
            </a:r>
            <a:endParaRPr b="0" dirty="0" lang="en-US"/>
          </a:p>
        </p:txBody>
      </p:sp>
      <p:sp>
        <p:nvSpPr>
          <p:cNvPr id="1048659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7</a:t>
            </a:fld>
            <a:endParaRPr dirty="0" lang="en-US"/>
          </a:p>
        </p:txBody>
      </p:sp>
      <p:pic>
        <p:nvPicPr>
          <p:cNvPr id="2097160" name="Table Placeholder 4"/>
          <p:cNvPicPr>
            <a:picLocks noChangeAspect="1" noGrp="1"/>
          </p:cNvPicPr>
          <p:nvPr>
            <p:ph type="tbl" sz="quarter" idx="1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94492" y="2845831"/>
            <a:ext cx="5535766" cy="3071338"/>
          </a:xfrm>
        </p:spPr>
      </p:pic>
      <p:sp>
        <p:nvSpPr>
          <p:cNvPr id="1048661" name="TextBox 5"/>
          <p:cNvSpPr txBox="1"/>
          <p:nvPr/>
        </p:nvSpPr>
        <p:spPr>
          <a:xfrm>
            <a:off x="7061200" y="2665413"/>
            <a:ext cx="4504267" cy="4358640"/>
          </a:xfrm>
          <a:prstGeom prst="rect"/>
          <a:noFill/>
        </p:spPr>
        <p:txBody>
          <a:bodyPr rtlCol="0" wrap="square">
            <a:spAutoFit/>
          </a:bodyPr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>
                <a:solidFill>
                  <a:srgbClr val="00B0F0"/>
                </a:solidFill>
              </a:rPr>
              <a:t>Mechanical engineering is the study of physical machines and mechanisms that may involve force and movement. </a:t>
            </a:r>
            <a:endParaRPr dirty="0" sz="2400" lang="en-US" smtClean="0">
              <a:solidFill>
                <a:srgbClr val="00B0F0"/>
              </a:solidFill>
            </a:endParaRPr>
          </a:p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 smtClean="0">
                <a:solidFill>
                  <a:srgbClr val="00B0F0"/>
                </a:solidFill>
              </a:rPr>
              <a:t>It </a:t>
            </a:r>
            <a:r>
              <a:rPr dirty="0" sz="2400" lang="en-US">
                <a:solidFill>
                  <a:srgbClr val="00B0F0"/>
                </a:solidFill>
              </a:rPr>
              <a:t>is an engineering branch that combines engineering physics and mathematics principles with materials science, to design, analyze, manufacture, and maintain mechanical systems.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7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2"/>
                                        <p:tgtEl>
                                          <p:spTgt spid="209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0" dirty="0" lang="en-US" smtClean="0"/>
              <a:t>SOFTWARE</a:t>
            </a:r>
            <a:endParaRPr b="0" dirty="0" lang="en-US"/>
          </a:p>
        </p:txBody>
      </p:sp>
      <p:sp>
        <p:nvSpPr>
          <p:cNvPr id="1048663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8</a:t>
            </a:fld>
            <a:endParaRPr dirty="0" lang="en-US"/>
          </a:p>
        </p:txBody>
      </p:sp>
      <p:pic>
        <p:nvPicPr>
          <p:cNvPr id="2097161" name="Table Placeholder 4"/>
          <p:cNvPicPr>
            <a:picLocks noChangeAspect="1" noGrp="1"/>
          </p:cNvPicPr>
          <p:nvPr>
            <p:ph type="tbl" sz="quarter" idx="1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94492" y="2665414"/>
            <a:ext cx="5535766" cy="3100028"/>
          </a:xfrm>
        </p:spPr>
      </p:pic>
      <p:sp>
        <p:nvSpPr>
          <p:cNvPr id="1048665" name="TextBox 5"/>
          <p:cNvSpPr txBox="1"/>
          <p:nvPr/>
        </p:nvSpPr>
        <p:spPr>
          <a:xfrm>
            <a:off x="7061200" y="2665413"/>
            <a:ext cx="4504267" cy="4003040"/>
          </a:xfrm>
          <a:prstGeom prst="rect"/>
          <a:noFill/>
        </p:spPr>
        <p:txBody>
          <a:bodyPr rtlCol="0" wrap="square">
            <a:spAutoFit/>
          </a:bodyPr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>
                <a:solidFill>
                  <a:srgbClr val="00B0F0"/>
                </a:solidFill>
              </a:rPr>
              <a:t>Software engineering is a branch of computer science focused on the design, development, testing, and maintenance of software applications</a:t>
            </a:r>
            <a:r>
              <a:rPr dirty="0" sz="2400" lang="en-US" smtClean="0">
                <a:solidFill>
                  <a:srgbClr val="00B0F0"/>
                </a:solidFill>
              </a:rPr>
              <a:t>.</a:t>
            </a:r>
          </a:p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 smtClean="0">
                <a:solidFill>
                  <a:srgbClr val="00B0F0"/>
                </a:solidFill>
              </a:rPr>
              <a:t>It </a:t>
            </a:r>
            <a:r>
              <a:rPr dirty="0" sz="2400" lang="en-US">
                <a:solidFill>
                  <a:srgbClr val="00B0F0"/>
                </a:solidFill>
              </a:rPr>
              <a:t>applies engineering principles to create high-quality, reliable, and maintainable software systems.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7"/>
                                        <p:tgtEl>
                                          <p:spTgt spid="10486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id="12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4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0" dirty="0" lang="en-US" smtClean="0"/>
              <a:t>SOFTWARE</a:t>
            </a:r>
            <a:endParaRPr b="0" dirty="0" lang="en-US"/>
          </a:p>
        </p:txBody>
      </p:sp>
      <p:sp>
        <p:nvSpPr>
          <p:cNvPr id="1048667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9</a:t>
            </a:fld>
            <a:endParaRPr dirty="0" lang="en-US"/>
          </a:p>
        </p:txBody>
      </p:sp>
      <p:pic>
        <p:nvPicPr>
          <p:cNvPr id="2097162" name="Table Placeholder 4"/>
          <p:cNvPicPr>
            <a:picLocks noChangeAspect="1" noGrp="1"/>
          </p:cNvPicPr>
          <p:nvPr>
            <p:ph type="tbl" sz="quarter" idx="12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94492" y="2665414"/>
            <a:ext cx="5535766" cy="3100028"/>
          </a:xfrm>
        </p:spPr>
      </p:pic>
      <p:sp>
        <p:nvSpPr>
          <p:cNvPr id="1048669" name="TextBox 5"/>
          <p:cNvSpPr txBox="1"/>
          <p:nvPr/>
        </p:nvSpPr>
        <p:spPr>
          <a:xfrm>
            <a:off x="7061200" y="2665413"/>
            <a:ext cx="4504267" cy="4003040"/>
          </a:xfrm>
          <a:prstGeom prst="rect"/>
          <a:noFill/>
        </p:spPr>
        <p:txBody>
          <a:bodyPr rtlCol="0" wrap="square">
            <a:spAutoFit/>
          </a:bodyPr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>
                <a:solidFill>
                  <a:srgbClr val="00B0F0"/>
                </a:solidFill>
              </a:rPr>
              <a:t>Software engineering is a branch of computer science focused on the design, development, testing, and maintenance of software applications</a:t>
            </a:r>
            <a:r>
              <a:rPr dirty="0" sz="2400" lang="en-US" smtClean="0">
                <a:solidFill>
                  <a:srgbClr val="00B0F0"/>
                </a:solidFill>
              </a:rPr>
              <a:t>.</a:t>
            </a:r>
          </a:p>
          <a:p>
            <a:pPr algn="just" indent="-342900" marL="342900">
              <a:buFont typeface="Wingdings" panose="05000000000000000000" pitchFamily="2" charset="2"/>
              <a:buChar char="Ø"/>
            </a:pPr>
            <a:r>
              <a:rPr dirty="0" sz="2400" lang="en-US" smtClean="0">
                <a:solidFill>
                  <a:srgbClr val="00B0F0"/>
                </a:solidFill>
              </a:rPr>
              <a:t>It </a:t>
            </a:r>
            <a:r>
              <a:rPr dirty="0" sz="2400" lang="en-US">
                <a:solidFill>
                  <a:srgbClr val="00B0F0"/>
                </a:solidFill>
              </a:rPr>
              <a:t>applies engineering principles to create high-quality, reliable, and maintainable software systems.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0"/>
                                        <p:tgtEl>
                                          <p:spTgt spid="104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>
                      <p:stCondLst>
                        <p:cond delay="indefinite"/>
                      </p:stCondLst>
                      <p:childTnLst>
                        <p:par>
                          <p:cTn fill="hold" id="12">
                            <p:stCondLst>
                              <p:cond delay="0"/>
                            </p:stCondLst>
                            <p:childTnLst>
                              <p:par>
                                <p:cTn fill="hold" id="13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7"/>
                                        <p:tgtEl>
                                          <p:spTgt spid="209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3"/>
          <p:cNvSpPr>
            <a:spLocks noGrp="1"/>
          </p:cNvSpPr>
          <p:nvPr>
            <p:ph type="title"/>
          </p:nvPr>
        </p:nvSpPr>
        <p:spPr/>
        <p:txBody>
          <a:bodyPr>
            <a:normAutofit fontScale="95455"/>
          </a:bodyPr>
          <a:p>
            <a:r>
              <a:rPr dirty="0" lang="en-US"/>
              <a:t>My Course Experiences: Building a Strong Foundation</a:t>
            </a:r>
            <a:endParaRPr b="0" dirty="0" lang="en-US"/>
          </a:p>
        </p:txBody>
      </p:sp>
      <p:sp>
        <p:nvSpPr>
          <p:cNvPr id="1048671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10</a:t>
            </a:fld>
            <a:endParaRPr dirty="0" lang="en-US"/>
          </a:p>
        </p:txBody>
      </p:sp>
      <p:sp>
        <p:nvSpPr>
          <p:cNvPr id="1048673" name="TextBox 5"/>
          <p:cNvSpPr txBox="1"/>
          <p:nvPr/>
        </p:nvSpPr>
        <p:spPr>
          <a:xfrm>
            <a:off x="338530" y="1943212"/>
            <a:ext cx="6822124" cy="3749040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b="1" dirty="0" sz="2000" lang="en-US"/>
              <a:t>I. Engineering &amp; Scientific Foundations</a:t>
            </a:r>
          </a:p>
          <a:p>
            <a:pPr algn="just"/>
            <a:r>
              <a:rPr b="1" dirty="0" sz="2000" lang="en-US"/>
              <a:t>Understanding Core Engineering Principles:</a:t>
            </a:r>
            <a:r>
              <a:rPr dirty="0" sz="2000" lang="en-US"/>
              <a:t> I gained a solid grasp of fundamental concepts common to all engineering fields, including forces, energy, materials, systems thinking, and the engineering design process.</a:t>
            </a:r>
          </a:p>
          <a:p>
            <a:pPr algn="just"/>
            <a:r>
              <a:rPr b="1" dirty="0" sz="2000" lang="en-US"/>
              <a:t>Applying Physics Laws:</a:t>
            </a:r>
            <a:r>
              <a:rPr dirty="0" sz="2000" lang="en-US"/>
              <a:t> I mastered key principles of classical mechanics (and potentially electricity and magnetism, depending on the AP Physics course) and applied them to analyze and predict the behavior of physical systems.</a:t>
            </a:r>
          </a:p>
          <a:p>
            <a:pPr algn="just"/>
            <a:endParaRPr dirty="0" sz="2000" lang="en-US">
              <a:solidFill>
                <a:srgbClr val="00B0F0"/>
              </a:solidFill>
            </a:endParaRPr>
          </a:p>
          <a:p>
            <a:pPr algn="just"/>
            <a:endParaRPr dirty="0" sz="2000" lang="en-US">
              <a:solidFill>
                <a:srgbClr val="00B0F0"/>
              </a:solidFill>
            </a:endParaRPr>
          </a:p>
        </p:txBody>
      </p:sp>
      <p:pic>
        <p:nvPicPr>
          <p:cNvPr id="2097163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160653" y="2037023"/>
            <a:ext cx="3986317" cy="3384064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400">
        <p14:ripple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104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2"/>
                                        <p:tgtEl>
                                          <p:spTgt spid="209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0" dirty="0" lang="en-US" smtClean="0"/>
              <a:t>Cont’d…</a:t>
            </a:r>
            <a:endParaRPr b="0" dirty="0" lang="en-US"/>
          </a:p>
        </p:txBody>
      </p:sp>
      <p:sp>
        <p:nvSpPr>
          <p:cNvPr id="1048675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76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11</a:t>
            </a:fld>
            <a:endParaRPr dirty="0" lang="en-US"/>
          </a:p>
        </p:txBody>
      </p:sp>
      <p:sp>
        <p:nvSpPr>
          <p:cNvPr id="1048677" name="TextBox 5"/>
          <p:cNvSpPr txBox="1"/>
          <p:nvPr/>
        </p:nvSpPr>
        <p:spPr>
          <a:xfrm>
            <a:off x="338529" y="1656609"/>
            <a:ext cx="8191322" cy="4968240"/>
          </a:xfrm>
          <a:prstGeom prst="rect"/>
          <a:noFill/>
        </p:spPr>
        <p:txBody>
          <a:bodyPr rtlCol="0" wrap="square">
            <a:spAutoFit/>
          </a:bodyPr>
          <a:p>
            <a:pPr algn="just">
              <a:lnSpc>
                <a:spcPct val="100000"/>
              </a:lnSpc>
            </a:pPr>
            <a:r>
              <a:rPr b="1" dirty="0" sz="2000" lang="en-US">
                <a:solidFill>
                  <a:srgbClr val="00B0F0"/>
                </a:solidFill>
                <a:cs typeface="Times New Roman" panose="02020603050405020304" pitchFamily="18" charset="0"/>
              </a:rPr>
              <a:t>II. Crucial Digital Literacy &amp; </a:t>
            </a:r>
            <a:r>
              <a:rPr b="1" dirty="0" sz="2000" lang="en-US" err="1">
                <a:solidFill>
                  <a:srgbClr val="00B0F0"/>
                </a:solidFill>
                <a:cs typeface="Times New Roman" panose="02020603050405020304" pitchFamily="18" charset="0"/>
              </a:rPr>
              <a:t>Cybersecurity</a:t>
            </a:r>
            <a:r>
              <a:rPr b="1" dirty="0" sz="2000" lang="en-US">
                <a:solidFill>
                  <a:srgbClr val="00B0F0"/>
                </a:solidFill>
                <a:cs typeface="Times New Roman" panose="02020603050405020304" pitchFamily="18" charset="0"/>
              </a:rPr>
              <a:t> Awareness</a:t>
            </a:r>
          </a:p>
          <a:p>
            <a:pPr algn="just">
              <a:lnSpc>
                <a:spcPct val="100000"/>
              </a:lnSpc>
            </a:pPr>
            <a:r>
              <a:rPr b="1" dirty="0" sz="2000" lang="en-US">
                <a:cs typeface="Times New Roman" panose="02020603050405020304" pitchFamily="18" charset="0"/>
              </a:rPr>
              <a:t>Identifying Online Threats:</a:t>
            </a:r>
            <a:r>
              <a:rPr dirty="0" sz="2000" lang="en-US">
                <a:cs typeface="Times New Roman" panose="02020603050405020304" pitchFamily="18" charset="0"/>
              </a:rPr>
              <a:t> I learned about various </a:t>
            </a:r>
            <a:r>
              <a:rPr dirty="0" sz="2000" lang="en-US" err="1">
                <a:cs typeface="Times New Roman" panose="02020603050405020304" pitchFamily="18" charset="0"/>
              </a:rPr>
              <a:t>cybersecurity</a:t>
            </a:r>
            <a:r>
              <a:rPr dirty="0" sz="2000" lang="en-US">
                <a:cs typeface="Times New Roman" panose="02020603050405020304" pitchFamily="18" charset="0"/>
              </a:rPr>
              <a:t> risks such as phishing, malware, identity theft, and social engineering tactics.</a:t>
            </a:r>
          </a:p>
          <a:p>
            <a:pPr algn="just">
              <a:lnSpc>
                <a:spcPct val="100000"/>
              </a:lnSpc>
            </a:pPr>
            <a:r>
              <a:rPr b="1" dirty="0" sz="2000" lang="en-US">
                <a:cs typeface="Times New Roman" panose="02020603050405020304" pitchFamily="18" charset="0"/>
              </a:rPr>
              <a:t>Protecting Personal Data:</a:t>
            </a:r>
            <a:r>
              <a:rPr dirty="0" sz="2000" lang="en-US">
                <a:cs typeface="Times New Roman" panose="02020603050405020304" pitchFamily="18" charset="0"/>
              </a:rPr>
              <a:t> I understand best practices for securing my personal information, managing online privacy, and using strong, unique passwords.</a:t>
            </a:r>
          </a:p>
          <a:p>
            <a:pPr algn="just">
              <a:lnSpc>
                <a:spcPct val="100000"/>
              </a:lnSpc>
            </a:pPr>
            <a:r>
              <a:rPr b="1" dirty="0" sz="2000" lang="en-US">
                <a:cs typeface="Times New Roman" panose="02020603050405020304" pitchFamily="18" charset="0"/>
              </a:rPr>
              <a:t>Practicing Safe Online Habits:</a:t>
            </a:r>
            <a:r>
              <a:rPr dirty="0" sz="2000" lang="en-US">
                <a:cs typeface="Times New Roman" panose="02020603050405020304" pitchFamily="18" charset="0"/>
              </a:rPr>
              <a:t> I developed habits for secure browsing, responsible downloading, and safe interactions on digital platforms.</a:t>
            </a:r>
          </a:p>
          <a:p>
            <a:pPr algn="just">
              <a:lnSpc>
                <a:spcPct val="100000"/>
              </a:lnSpc>
            </a:pPr>
            <a:r>
              <a:rPr b="1" dirty="0" sz="2000" lang="en-US">
                <a:solidFill>
                  <a:srgbClr val="00B0F0"/>
                </a:solidFill>
              </a:rPr>
              <a:t>III. Digital Engagement &amp; Career Insights</a:t>
            </a:r>
          </a:p>
          <a:p>
            <a:pPr algn="just">
              <a:lnSpc>
                <a:spcPct val="100000"/>
              </a:lnSpc>
            </a:pPr>
            <a:r>
              <a:rPr b="1" dirty="0" sz="2000" lang="en-US"/>
              <a:t>Learning from Others' Pathways:</a:t>
            </a:r>
            <a:r>
              <a:rPr dirty="0" sz="2000" lang="en-US"/>
              <a:t> Through various discussions and shared experiences, I gained valuable insights into the career and academic journeys of individuals.</a:t>
            </a:r>
          </a:p>
          <a:p>
            <a:pPr algn="just">
              <a:lnSpc>
                <a:spcPct val="100000"/>
              </a:lnSpc>
            </a:pPr>
            <a:endParaRPr dirty="0" sz="2000" lang="en-US">
              <a:cs typeface="Times New Roman" panose="02020603050405020304" pitchFamily="18" charset="0"/>
            </a:endParaRPr>
          </a:p>
          <a:p>
            <a:pPr algn="just"/>
            <a:endParaRPr dirty="0" sz="2000" lang="en-US">
              <a:solidFill>
                <a:srgbClr val="00B0F0"/>
              </a:solidFill>
            </a:endParaRPr>
          </a:p>
          <a:p>
            <a:pPr algn="just"/>
            <a:endParaRPr dirty="0" sz="2000" lang="en-US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:blinds dir="ver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7"/>
                                        <p:tgtEl>
                                          <p:spTgt spid="1048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"/>
          <p:cNvSpPr>
            <a:spLocks noGrp="1"/>
          </p:cNvSpPr>
          <p:nvPr>
            <p:ph type="body" idx="1"/>
          </p:nvPr>
        </p:nvSpPr>
        <p:spPr>
          <a:xfrm>
            <a:off x="520698" y="2104888"/>
            <a:ext cx="5475290" cy="4175808"/>
          </a:xfrm>
        </p:spPr>
        <p:txBody>
          <a:bodyPr>
            <a:normAutofit fontScale="89286" lnSpcReduction="20000"/>
          </a:bodyPr>
          <a:p>
            <a:r>
              <a:rPr lang="en-US">
                <a:solidFill>
                  <a:srgbClr val="02A5E3"/>
                </a:solidFill>
              </a:rPr>
              <a:t>Before the Program:</a:t>
            </a:r>
            <a:endParaRPr lang="en-US">
              <a:solidFill>
                <a:srgbClr val="02A5E3"/>
              </a:solidFill>
            </a:endParaRPr>
          </a:p>
          <a:p>
            <a:r>
              <a:rPr lang="en-US"/>
              <a:t>- Limited understanding of core engineering principles and their real-world applications.  </a:t>
            </a:r>
            <a:endParaRPr lang="en-US"/>
          </a:p>
          <a:p>
            <a:r>
              <a:rPr lang="en-US"/>
              <a:t>- Basic knowledge of physics and mathematics, but lacked confidence in applying them to solve complex problems.  </a:t>
            </a:r>
            <a:endParaRPr lang="en-US"/>
          </a:p>
          <a:p>
            <a:r>
              <a:rPr lang="en-US"/>
              <a:t>- Minimal awareness of cybersecurity risks and safe online practices.  </a:t>
            </a:r>
            <a:endParaRPr lang="en-US"/>
          </a:p>
          <a:p>
            <a:r>
              <a:rPr lang="en-US"/>
              <a:t>- Unclear about career pathways in engineering and the skills required to succeed.  </a:t>
            </a:r>
            <a:endParaRPr lang="en-US"/>
          </a:p>
        </p:txBody>
      </p:sp>
      <p:sp>
        <p:nvSpPr>
          <p:cNvPr id="1048783" name=""/>
          <p:cNvSpPr>
            <a:spLocks noGrp="1"/>
          </p:cNvSpPr>
          <p:nvPr>
            <p:ph type="body" sz="quarter" idx="14"/>
          </p:nvPr>
        </p:nvSpPr>
        <p:spPr>
          <a:xfrm>
            <a:off x="6186713" y="2104888"/>
            <a:ext cx="5475600" cy="4158401"/>
          </a:xfrm>
        </p:spPr>
        <p:txBody>
          <a:bodyPr>
            <a:normAutofit fontScale="64286" lnSpcReduction="20000"/>
          </a:bodyPr>
          <a:p>
            <a:r>
              <a:rPr sz="3200" lang="en-US">
                <a:solidFill>
                  <a:srgbClr val="02A5E3"/>
                </a:solidFill>
              </a:rPr>
              <a:t>After the Program:</a:t>
            </a:r>
            <a:endParaRPr sz="3200" lang="en-US">
              <a:solidFill>
                <a:srgbClr val="02A5E3"/>
              </a:solidFill>
            </a:endParaRPr>
          </a:p>
          <a:p>
            <a:r>
              <a:rPr lang="en-US"/>
              <a:t>- Strong Foundation:Gained a solid grasp of engineering fundamentals, including forces, energy, materials, and systems thinking.  </a:t>
            </a:r>
            <a:endParaRPr lang="en-US"/>
          </a:p>
          <a:p>
            <a:r>
              <a:rPr lang="en-US"/>
              <a:t>- Applied Skills:Mastered key physics laws and mathematical tools (e.g., calculus) to analyze and solve engineering problems.  </a:t>
            </a:r>
            <a:endParaRPr lang="en-US"/>
          </a:p>
          <a:p>
            <a:r>
              <a:rPr lang="en-US"/>
              <a:t>- Cybersecurity Awareness:Developed the ability to identify online threats, protect personal data, and practice safe digital habits.  </a:t>
            </a:r>
            <a:endParaRPr lang="en-US"/>
          </a:p>
          <a:p>
            <a:r>
              <a:rPr lang="en-US"/>
              <a:t>- Career Clarity:Acquired insights into various engineering disciplines and career paths through discussions and shared experiences.  </a:t>
            </a:r>
            <a:endParaRPr lang="en-US"/>
          </a:p>
          <a:p>
            <a:r>
              <a:rPr lang="en-US"/>
              <a:t>- Confidence: Improved problem-solving abilities and confidence in tackling real-world engineering challenges.  </a:t>
            </a:r>
            <a:endParaRPr lang="en-US"/>
          </a:p>
        </p:txBody>
      </p:sp>
      <p:sp>
        <p:nvSpPr>
          <p:cNvPr id="1048786" name="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/>
          </a:lstStyle>
          <a:p>
            <a:r>
              <a:rPr dirty="0" lang="en-US" noProof="0"/>
              <a:t>Add a footer</a:t>
            </a:r>
          </a:p>
        </p:txBody>
      </p:sp>
      <p:sp>
        <p:nvSpPr>
          <p:cNvPr id="1048787" name="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noProof="0" smtClean="0"/>
              <a:t>12</a:t>
            </a:fld>
            <a:endParaRPr dirty="0" lang="en-US" noProof="0"/>
          </a:p>
        </p:txBody>
      </p:sp>
      <p:sp>
        <p:nvSpPr>
          <p:cNvPr id="1048788" name="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 fontScale="95455"/>
          </a:bodyPr>
          <a:p>
            <a:r>
              <a:rPr lang="en-US"/>
              <a:t>Personal Growth: Before and After the Program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3"/>
          <p:cNvSpPr>
            <a:spLocks noGrp="1"/>
          </p:cNvSpPr>
          <p:nvPr>
            <p:ph type="title"/>
          </p:nvPr>
        </p:nvSpPr>
        <p:spPr/>
        <p:txBody>
          <a:bodyPr>
            <a:normAutofit fontScale="95455"/>
          </a:bodyPr>
          <a:p>
            <a:r>
              <a:rPr dirty="0" lang="en-US"/>
              <a:t>Conclusion</a:t>
            </a:r>
            <a:br>
              <a:rPr dirty="0" lang="en-US"/>
            </a:br>
            <a:endParaRPr b="0" dirty="0" lang="en-US"/>
          </a:p>
        </p:txBody>
      </p:sp>
      <p:sp>
        <p:nvSpPr>
          <p:cNvPr id="1048679" name="Footer Placeholder 2"/>
          <p:cNvSpPr>
            <a:spLocks noGrp="1"/>
          </p:cNvSpPr>
          <p:nvPr>
            <p:ph type="ftr" sz="quarter" idx="17"/>
          </p:nvPr>
        </p:nvSpPr>
        <p:spPr/>
        <p:txBody>
          <a:bodyPr/>
          <a:p>
            <a:r>
              <a:rPr dirty="0" lang="en-US"/>
              <a:t>Add a footer</a:t>
            </a:r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8"/>
          </p:nvPr>
        </p:nvSpPr>
        <p:spPr/>
        <p:txBody>
          <a:bodyPr/>
          <a:p>
            <a:fld id="{8699F50C-BE38-4BD0-BA84-9B090E1F2B9B}" type="slidenum">
              <a:rPr lang="en-US" smtClean="0"/>
              <a:t>13</a:t>
            </a:fld>
            <a:endParaRPr dirty="0" lang="en-US"/>
          </a:p>
        </p:txBody>
      </p:sp>
      <p:sp>
        <p:nvSpPr>
          <p:cNvPr id="1048681" name="TextBox 5"/>
          <p:cNvSpPr txBox="1"/>
          <p:nvPr/>
        </p:nvSpPr>
        <p:spPr>
          <a:xfrm>
            <a:off x="338529" y="1656609"/>
            <a:ext cx="8191322" cy="2580640"/>
          </a:xfrm>
          <a:prstGeom prst="rect"/>
          <a:noFill/>
        </p:spPr>
        <p:txBody>
          <a:bodyPr rtlCol="0" wrap="square">
            <a:spAutoFit/>
          </a:bodyPr>
          <a:p>
            <a:pPr algn="just"/>
            <a:r>
              <a:rPr dirty="0" sz="2400" lang="en-US"/>
              <a:t>In summary, my coursework has provided me with a robust foundation in engineering and scientific principles, honed my analytical and problem-solving skills, and offered invaluable insights into future academic and career paths from the experiences of others. I am confident these experiences will serve as a strong springboard for my future endeavors.</a:t>
            </a:r>
            <a:endParaRPr dirty="0" sz="2400" lang="en-US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104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19" descr="Company initials and name in grouped text"/>
          <p:cNvGrpSpPr/>
          <p:nvPr/>
        </p:nvGrpSpPr>
        <p:grpSpPr>
          <a:xfrm>
            <a:off x="2956888" y="2855631"/>
            <a:ext cx="466271" cy="1137708"/>
            <a:chOff x="2956888" y="2902286"/>
            <a:chExt cx="466271" cy="1137708"/>
          </a:xfrm>
        </p:grpSpPr>
        <p:sp>
          <p:nvSpPr>
            <p:cNvPr id="1048693" name="TextBox 20"/>
            <p:cNvSpPr txBox="1"/>
            <p:nvPr/>
          </p:nvSpPr>
          <p:spPr>
            <a:xfrm>
              <a:off x="3238428" y="2902286"/>
              <a:ext cx="184731" cy="1015663"/>
            </a:xfrm>
            <a:prstGeom prst="rect"/>
            <a:noFill/>
          </p:spPr>
          <p:txBody>
            <a:bodyPr rtlCol="0" wrap="none">
              <a:spAutoFit/>
            </a:bodyPr>
            <a:p>
              <a:endParaRPr b="1" dirty="0" sz="6000" lang="en-US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48694" name="TextBox 21"/>
            <p:cNvSpPr txBox="1"/>
            <p:nvPr/>
          </p:nvSpPr>
          <p:spPr>
            <a:xfrm>
              <a:off x="2956888" y="3732217"/>
              <a:ext cx="184731" cy="307777"/>
            </a:xfrm>
            <a:prstGeom prst="rect"/>
            <a:noFill/>
          </p:spPr>
          <p:txBody>
            <a:bodyPr rtlCol="0" wrap="none">
              <a:spAutoFit/>
            </a:bodyPr>
            <a:p>
              <a:endParaRPr dirty="0" sz="1400" lang="en-US">
                <a:solidFill>
                  <a:schemeClr val="bg1"/>
                </a:solidFill>
                <a:cs typeface="Calibri Light" panose="020F0302020204030204" pitchFamily="34" charset="0"/>
              </a:endParaRPr>
            </a:p>
          </p:txBody>
        </p:sp>
      </p:grpSp>
      <p:pic>
        <p:nvPicPr>
          <p:cNvPr id="2097164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77672" y="1410856"/>
            <a:ext cx="11245754" cy="5164965"/>
          </a:xfrm>
          <a:prstGeom prst="rect"/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algn="bl" blurRad="254000" dir="2700000" dist="190500" rotWithShape="0" sy="90000">
              <a:srgbClr val="000000">
                <a:alpha val="40000"/>
              </a:srgbClr>
            </a:outerShdw>
          </a:effectLst>
        </p:spPr>
      </p:pic>
      <p:sp>
        <p:nvSpPr>
          <p:cNvPr id="1048695" name="TextBox 5"/>
          <p:cNvSpPr txBox="1"/>
          <p:nvPr/>
        </p:nvSpPr>
        <p:spPr>
          <a:xfrm>
            <a:off x="2956888" y="222055"/>
            <a:ext cx="2862579" cy="751840"/>
          </a:xfrm>
          <a:prstGeom prst="rect"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wrap="none">
            <a:spAutoFit/>
          </a:bodyPr>
          <a:p>
            <a:r>
              <a:rPr dirty="0" sz="4400" lang="en-US" smtClean="0">
                <a:solidFill>
                  <a:srgbClr val="FF0000"/>
                </a:solidFill>
              </a:rPr>
              <a:t>THE END!!!</a:t>
            </a:r>
            <a:endParaRPr dirty="0" sz="4400"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209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0A5AF1-8C57-4290-936E-5FD27C9572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X657</dc:creator>
  <dcterms:created xsi:type="dcterms:W3CDTF">2025-06-27T12:33:21Z</dcterms:created>
  <dcterms:modified xsi:type="dcterms:W3CDTF">2025-06-30T13:57:47Z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9fe33ecd863d41afa7009b86841401ee</vt:lpwstr>
  </property>
</Properties>
</file>