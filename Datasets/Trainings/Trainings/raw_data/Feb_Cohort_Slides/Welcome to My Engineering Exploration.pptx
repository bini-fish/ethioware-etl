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embeddedFontLst>
    <p:embeddedFont>
      <p:font typeface="Roboto"/>
      <p:regular r:id="rId16"/>
      <p:bold r:id="rId17"/>
      <p:italic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Roboto-bold.fntdata"/><Relationship Id="rId16" Type="http://schemas.openxmlformats.org/officeDocument/2006/relationships/font" Target="fonts/Roboto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Roboto-boldItalic.fntdata"/><Relationship Id="rId6" Type="http://schemas.openxmlformats.org/officeDocument/2006/relationships/slide" Target="slides/slide1.xml"/><Relationship Id="rId18" Type="http://schemas.openxmlformats.org/officeDocument/2006/relationships/font" Target="fonts/Roboto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3b482979ea24169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3b482979ea24169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5e421c417d45d4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5e421c417d45d4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5e421c417d45d42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5e421c417d45d42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7af3a334353fb8b3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7af3a334353fb8b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6da25075f5dee41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6da25075f5dee41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233a28002d90688b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233a28002d90688b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5c5442e1738679b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5c5442e1738679b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5c5442e1738679b1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5c5442e1738679b1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5c5442e1738679b1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5c5442e1738679b1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11" name="Google Shape;11;p2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21" name="Google Shape;21;p3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6" name="Google Shape;26;p3"/>
          <p:cNvSpPr txBox="1"/>
          <p:nvPr>
            <p:ph type="title"/>
          </p:nvPr>
        </p:nvSpPr>
        <p:spPr>
          <a:xfrm>
            <a:off x="598100" y="2152347"/>
            <a:ext cx="8222100" cy="83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" name="Google Shape;27;p3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oogle Shape;29;p4"/>
          <p:cNvGrpSpPr/>
          <p:nvPr/>
        </p:nvGrpSpPr>
        <p:grpSpPr>
          <a:xfrm>
            <a:off x="0" y="3903669"/>
            <a:ext cx="9144000" cy="1239925"/>
            <a:chOff x="0" y="3903669"/>
            <a:chExt cx="9144000" cy="1239925"/>
          </a:xfrm>
        </p:grpSpPr>
        <p:sp>
          <p:nvSpPr>
            <p:cNvPr id="30" name="Google Shape;30;p4"/>
            <p:cNvSpPr/>
            <p:nvPr/>
          </p:nvSpPr>
          <p:spPr>
            <a:xfrm>
              <a:off x="8154895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4"/>
            <p:cNvSpPr/>
            <p:nvPr/>
          </p:nvSpPr>
          <p:spPr>
            <a:xfrm flipH="1">
              <a:off x="6181163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4"/>
            <p:cNvSpPr/>
            <p:nvPr/>
          </p:nvSpPr>
          <p:spPr>
            <a:xfrm>
              <a:off x="7170274" y="3903669"/>
              <a:ext cx="989100" cy="9879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4"/>
            <p:cNvSpPr/>
            <p:nvPr/>
          </p:nvSpPr>
          <p:spPr>
            <a:xfrm rot="10800000">
              <a:off x="8154757" y="3903682"/>
              <a:ext cx="989100" cy="9879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4"/>
            <p:cNvSpPr/>
            <p:nvPr/>
          </p:nvSpPr>
          <p:spPr>
            <a:xfrm>
              <a:off x="0" y="4891594"/>
              <a:ext cx="9144000" cy="2520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5" name="Google Shape;35;p4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7" name="Google Shape;37;p4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1" type="body"/>
          </p:nvPr>
        </p:nvSpPr>
        <p:spPr>
          <a:xfrm>
            <a:off x="3117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1" name="Google Shape;41;p5"/>
          <p:cNvSpPr txBox="1"/>
          <p:nvPr>
            <p:ph idx="2" type="body"/>
          </p:nvPr>
        </p:nvSpPr>
        <p:spPr>
          <a:xfrm>
            <a:off x="48324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2" name="Google Shape;42;p5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5" name="Google Shape;45;p6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8" name="Google Shape;48;p7"/>
          <p:cNvSpPr txBox="1"/>
          <p:nvPr>
            <p:ph idx="1" type="body"/>
          </p:nvPr>
        </p:nvSpPr>
        <p:spPr>
          <a:xfrm>
            <a:off x="311700" y="1465804"/>
            <a:ext cx="2808000" cy="310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4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oogle Shape;51;p8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52" name="Google Shape;52;p8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" name="Google Shape;53;p8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" name="Google Shape;54;p8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" name="Google Shape;55;p8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" name="Google Shape;56;p8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7" name="Google Shape;57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8" name="Google Shape;58;p8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9"/>
          <p:cNvSpPr/>
          <p:nvPr/>
        </p:nvSpPr>
        <p:spPr>
          <a:xfrm>
            <a:off x="4572000" y="-1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1" name="Google Shape;61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9"/>
          <p:cNvSpPr txBox="1"/>
          <p:nvPr>
            <p:ph type="title"/>
          </p:nvPr>
        </p:nvSpPr>
        <p:spPr>
          <a:xfrm>
            <a:off x="265500" y="1151100"/>
            <a:ext cx="4045200" cy="156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63" name="Google Shape;63;p9"/>
          <p:cNvSpPr txBox="1"/>
          <p:nvPr>
            <p:ph idx="1" type="subTitle"/>
          </p:nvPr>
        </p:nvSpPr>
        <p:spPr>
          <a:xfrm>
            <a:off x="265500" y="2769001"/>
            <a:ext cx="4045200" cy="12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4" name="Google Shape;6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0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68" name="Google Shape;68;p10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11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71" name="Google Shape;71;p11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11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11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11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11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6" name="Google Shape;76;p11"/>
          <p:cNvSpPr txBox="1"/>
          <p:nvPr>
            <p:ph hasCustomPrompt="1" type="title"/>
          </p:nvPr>
        </p:nvSpPr>
        <p:spPr>
          <a:xfrm>
            <a:off x="311700" y="1256050"/>
            <a:ext cx="8520600" cy="203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7" name="Google Shape;77;p11"/>
          <p:cNvSpPr txBox="1"/>
          <p:nvPr>
            <p:ph idx="1" type="body"/>
          </p:nvPr>
        </p:nvSpPr>
        <p:spPr>
          <a:xfrm>
            <a:off x="311700" y="3369225"/>
            <a:ext cx="8520600" cy="128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8" name="Google Shape;78;p1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geometric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 txBox="1"/>
          <p:nvPr>
            <p:ph type="ctrTitle"/>
          </p:nvPr>
        </p:nvSpPr>
        <p:spPr>
          <a:xfrm>
            <a:off x="0" y="519150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Welcome to My Engineering Exploration</a:t>
            </a:r>
            <a:endParaRPr b="1"/>
          </a:p>
        </p:txBody>
      </p:sp>
      <p:sp>
        <p:nvSpPr>
          <p:cNvPr id="86" name="Google Shape;86;p13"/>
          <p:cNvSpPr txBox="1"/>
          <p:nvPr>
            <p:ph idx="1" type="subTitle"/>
          </p:nvPr>
        </p:nvSpPr>
        <p:spPr>
          <a:xfrm>
            <a:off x="598100" y="2715951"/>
            <a:ext cx="8222100" cy="75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/>
              <a:t>Hello everyone, I'm Wudase Mehari,and I'm excited to share my journey exploring various engineering fields.</a:t>
            </a:r>
            <a:endParaRPr b="1"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/>
              <a:t>This presentation summarizes my key learnings, insights, and future aspirations in these fields.</a:t>
            </a:r>
            <a:endParaRPr b="1" sz="1400"/>
          </a:p>
        </p:txBody>
      </p:sp>
      <p:sp>
        <p:nvSpPr>
          <p:cNvPr id="87" name="Google Shape;87;p13"/>
          <p:cNvSpPr txBox="1"/>
          <p:nvPr/>
        </p:nvSpPr>
        <p:spPr>
          <a:xfrm>
            <a:off x="0" y="2047568"/>
            <a:ext cx="9144000" cy="4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88" name="Google Shape;88;p13"/>
          <p:cNvSpPr txBox="1"/>
          <p:nvPr/>
        </p:nvSpPr>
        <p:spPr>
          <a:xfrm>
            <a:off x="0" y="2058102"/>
            <a:ext cx="9144000" cy="4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4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Diving into Software Engineering</a:t>
            </a:r>
            <a:endParaRPr b="1"/>
          </a:p>
        </p:txBody>
      </p:sp>
      <p:sp>
        <p:nvSpPr>
          <p:cNvPr id="94" name="Google Shape;94;p14"/>
          <p:cNvSpPr txBox="1"/>
          <p:nvPr/>
        </p:nvSpPr>
        <p:spPr>
          <a:xfrm>
            <a:off x="-9" y="1642502"/>
            <a:ext cx="9144000" cy="185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            </a:t>
            </a:r>
            <a:r>
              <a:rPr b="1" lang="en" sz="1800">
                <a:latin typeface="Roboto"/>
                <a:ea typeface="Roboto"/>
                <a:cs typeface="Roboto"/>
                <a:sym typeface="Roboto"/>
              </a:rPr>
              <a:t>Learning outcomes</a:t>
            </a:r>
            <a:r>
              <a:rPr lang="en" sz="1800">
                <a:latin typeface="Roboto"/>
                <a:ea typeface="Roboto"/>
                <a:cs typeface="Roboto"/>
                <a:sym typeface="Roboto"/>
              </a:rPr>
              <a:t>: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The importance of clean, maintainable code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Data structures and algorithms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Software development lifecycle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Developing web applications and mobile apps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5" name="Google Shape;95;p14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5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300"/>
              <a:t>Understanding </a:t>
            </a:r>
            <a:r>
              <a:rPr b="1" lang="en" sz="3300"/>
              <a:t>Civil Engineering</a:t>
            </a:r>
            <a:r>
              <a:rPr lang="en"/>
              <a:t> </a:t>
            </a:r>
            <a:endParaRPr/>
          </a:p>
        </p:txBody>
      </p:sp>
      <p:sp>
        <p:nvSpPr>
          <p:cNvPr id="101" name="Google Shape;101;p15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Learning outcomes:</a:t>
            </a:r>
            <a:endParaRPr b="1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 </a:t>
            </a:r>
            <a:r>
              <a:rPr b="1" lang="en"/>
              <a:t>     The importance of structural integrity and safety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      The impact of infrastructure on society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      The role of mathematics in civil engineering 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Application :</a:t>
            </a:r>
            <a:endParaRPr b="1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In construction of Bridges, buildings,and infrastructure </a:t>
            </a:r>
            <a:endParaRPr b="1"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Aeronautical Engineering </a:t>
            </a:r>
            <a:endParaRPr b="1"/>
          </a:p>
        </p:txBody>
      </p:sp>
      <p:sp>
        <p:nvSpPr>
          <p:cNvPr id="107" name="Google Shape;107;p16"/>
          <p:cNvSpPr txBox="1"/>
          <p:nvPr>
            <p:ph idx="1" type="body"/>
          </p:nvPr>
        </p:nvSpPr>
        <p:spPr>
          <a:xfrm>
            <a:off x="3117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Key </a:t>
            </a:r>
            <a:r>
              <a:rPr b="1" lang="en"/>
              <a:t>concepts</a:t>
            </a:r>
            <a:r>
              <a:rPr lang="en"/>
              <a:t>:</a:t>
            </a:r>
            <a:endParaRPr/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   </a:t>
            </a:r>
            <a:r>
              <a:rPr lang="en"/>
              <a:t>Aerodynamics and fluid mechanics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    Aircraft propulsion systems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    Aircraft structures and materials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    Flight control systems</a:t>
            </a:r>
            <a:endParaRPr/>
          </a:p>
        </p:txBody>
      </p:sp>
      <p:sp>
        <p:nvSpPr>
          <p:cNvPr id="108" name="Google Shape;108;p16"/>
          <p:cNvSpPr txBox="1"/>
          <p:nvPr>
            <p:ph idx="2" type="body"/>
          </p:nvPr>
        </p:nvSpPr>
        <p:spPr>
          <a:xfrm>
            <a:off x="48324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09" name="Google Shape;109;p16"/>
          <p:cNvPicPr preferRelativeResize="0"/>
          <p:nvPr/>
        </p:nvPicPr>
        <p:blipFill rotWithShape="1">
          <a:blip r:embed="rId3">
            <a:alphaModFix/>
          </a:blip>
          <a:srcRect b="0" l="0" r="64638" t="0"/>
          <a:stretch/>
        </p:blipFill>
        <p:spPr>
          <a:xfrm>
            <a:off x="4832399" y="1229975"/>
            <a:ext cx="3678826" cy="3339000"/>
          </a:xfrm>
          <a:prstGeom prst="rect">
            <a:avLst/>
          </a:prstGeom>
          <a:noFill/>
          <a:ln>
            <a:noFill/>
          </a:ln>
          <a:effectLst>
            <a:outerShdw blurRad="200025" rotWithShape="0" algn="bl" dir="18240000" dist="561975">
              <a:srgbClr val="1C4587">
                <a:alpha val="77000"/>
              </a:srgbClr>
            </a:outerShdw>
          </a:effec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300"/>
              <a:t>Elect</a:t>
            </a:r>
            <a:r>
              <a:rPr b="1" lang="en" sz="3300"/>
              <a:t>rical Engineering</a:t>
            </a:r>
            <a:r>
              <a:rPr lang="en"/>
              <a:t> </a:t>
            </a:r>
            <a:endParaRPr b="1"/>
          </a:p>
        </p:txBody>
      </p:sp>
      <p:sp>
        <p:nvSpPr>
          <p:cNvPr id="115" name="Google Shape;115;p17"/>
          <p:cNvSpPr txBox="1"/>
          <p:nvPr/>
        </p:nvSpPr>
        <p:spPr>
          <a:xfrm flipH="1">
            <a:off x="-5750" y="1406348"/>
            <a:ext cx="8520000" cy="213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Important Topics:</a:t>
            </a:r>
            <a:endParaRPr b="1"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    Circuit analysis and design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    Digital logic and microcontrollers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    Signal processing and communication 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    systems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    Power systems and renewable energy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16" name="Google Shape;116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70647" y="1756097"/>
            <a:ext cx="3343603" cy="2785324"/>
          </a:xfrm>
          <a:prstGeom prst="rect">
            <a:avLst/>
          </a:prstGeom>
          <a:noFill/>
          <a:ln>
            <a:noFill/>
          </a:ln>
          <a:effectLst>
            <a:outerShdw blurRad="585788" rotWithShape="0" algn="bl" dir="17460000" dist="428625">
              <a:schemeClr val="dk1">
                <a:alpha val="91000"/>
              </a:schemeClr>
            </a:outerShdw>
          </a:effec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Challenges and Overcoming Them</a:t>
            </a:r>
            <a:endParaRPr b="1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9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Navigating Challenges</a:t>
            </a:r>
            <a:endParaRPr/>
          </a:p>
        </p:txBody>
      </p:sp>
      <p:sp>
        <p:nvSpPr>
          <p:cNvPr id="127" name="Google Shape;127;p19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Throughout my exploration, I encountered challenges such as: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      Understanding complex algorithms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      Grasping advanced engineering concepts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      Time management (since I am full time student 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I overcame these challenges by: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     Seeking help from online resources and mentors( Khan academy ai tool 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     Breaking down complex problems into smaller, manageable parts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     Puting deadline for task's 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0"/>
          <p:cNvSpPr txBox="1"/>
          <p:nvPr>
            <p:ph type="title"/>
          </p:nvPr>
        </p:nvSpPr>
        <p:spPr>
          <a:xfrm>
            <a:off x="265500" y="1151100"/>
            <a:ext cx="4045200" cy="156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Genera</a:t>
            </a:r>
            <a:r>
              <a:rPr b="1" lang="en"/>
              <a:t>l Experience </a:t>
            </a:r>
            <a:endParaRPr b="1"/>
          </a:p>
        </p:txBody>
      </p:sp>
      <p:sp>
        <p:nvSpPr>
          <p:cNvPr id="133" name="Google Shape;133;p20"/>
          <p:cNvSpPr txBox="1"/>
          <p:nvPr>
            <p:ph idx="1" type="subTitle"/>
          </p:nvPr>
        </p:nvSpPr>
        <p:spPr>
          <a:xfrm>
            <a:off x="265500" y="2769001"/>
            <a:ext cx="4045200" cy="12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Through out the journey</a:t>
            </a:r>
            <a:r>
              <a:rPr lang="en"/>
              <a:t> </a:t>
            </a:r>
            <a:endParaRPr/>
          </a:p>
        </p:txBody>
      </p:sp>
      <p:sp>
        <p:nvSpPr>
          <p:cNvPr id="134" name="Google Shape;134;p20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Through out this pre engineering course </a:t>
            </a:r>
            <a:r>
              <a:rPr lang="en"/>
              <a:t>I have gained a valuable insight on basic engineering concepts and motivate me to deepen my knowledge on civil engineering.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1"/>
          <p:cNvSpPr txBox="1"/>
          <p:nvPr>
            <p:ph type="title"/>
          </p:nvPr>
        </p:nvSpPr>
        <p:spPr>
          <a:xfrm>
            <a:off x="-382125" y="543400"/>
            <a:ext cx="8812200" cy="1575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600"/>
              <a:t>Conclusion</a:t>
            </a:r>
            <a:r>
              <a:rPr lang="en"/>
              <a:t> </a:t>
            </a:r>
            <a:endParaRPr/>
          </a:p>
        </p:txBody>
      </p:sp>
      <p:sp>
        <p:nvSpPr>
          <p:cNvPr id="140" name="Google Shape;140;p21"/>
          <p:cNvSpPr txBox="1"/>
          <p:nvPr>
            <p:ph idx="1" type="body"/>
          </p:nvPr>
        </p:nvSpPr>
        <p:spPr>
          <a:xfrm>
            <a:off x="0" y="1866846"/>
            <a:ext cx="8812200" cy="277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My key takeaways from this exploration include:</a:t>
            </a:r>
            <a:endParaRPr b="1"/>
          </a:p>
          <a:p>
            <a:pPr indent="-342900" lvl="0" marL="457200" rtl="0" algn="ctr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  The power of software in solving real-world problems</a:t>
            </a:r>
            <a:endParaRPr/>
          </a:p>
          <a:p>
            <a:pPr indent="-342900" lvl="0" marL="457200" rtl="0" algn="ctr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 </a:t>
            </a:r>
            <a:r>
              <a:rPr lang="en"/>
              <a:t> </a:t>
            </a:r>
            <a:r>
              <a:rPr lang="en"/>
              <a:t>The importance of sustainable engineering practices</a:t>
            </a:r>
            <a:endParaRPr/>
          </a:p>
          <a:p>
            <a:pPr indent="-342900" lvl="0" marL="457200" rtl="0" algn="ctr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           The potential of engineering to shape the future</a:t>
            </a:r>
            <a:endParaRPr/>
          </a:p>
          <a:p>
            <a:pPr indent="0" lvl="0" marL="45720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</a:t>
            </a:r>
            <a:r>
              <a:rPr b="1" lang="en"/>
              <a:t>In the future, I aspire to:</a:t>
            </a:r>
            <a:endParaRPr b="1"/>
          </a:p>
          <a:p>
            <a:pPr indent="-342900" lvl="0" marL="457200" rtl="0" algn="ctr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                  Pursue a career in architectural engineering </a:t>
            </a:r>
            <a:endParaRPr/>
          </a:p>
          <a:p>
            <a:pPr indent="0" lvl="0" marL="45720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2"/>
          <p:cNvSpPr txBox="1"/>
          <p:nvPr>
            <p:ph idx="1" type="body"/>
          </p:nvPr>
        </p:nvSpPr>
        <p:spPr>
          <a:xfrm>
            <a:off x="319500" y="2837525"/>
            <a:ext cx="5998800" cy="129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Name- Wudase Mehari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Email ad</a:t>
            </a:r>
            <a:r>
              <a:rPr lang="en"/>
              <a:t>dress - wudasemehari4@gmail.com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22"/>
          <p:cNvSpPr txBox="1"/>
          <p:nvPr/>
        </p:nvSpPr>
        <p:spPr>
          <a:xfrm>
            <a:off x="0" y="648618"/>
            <a:ext cx="9144000" cy="129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2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       </a:t>
            </a:r>
            <a:r>
              <a:rPr lang="en" sz="7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Thank you </a:t>
            </a:r>
            <a:endParaRPr sz="7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7" name="Google Shape;147;p22"/>
          <p:cNvSpPr txBox="1"/>
          <p:nvPr/>
        </p:nvSpPr>
        <p:spPr>
          <a:xfrm>
            <a:off x="7127600" y="4450125"/>
            <a:ext cx="1691400" cy="4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Jan 5,2025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8" name="Google Shape;148;p22"/>
          <p:cNvSpPr/>
          <p:nvPr/>
        </p:nvSpPr>
        <p:spPr>
          <a:xfrm>
            <a:off x="0" y="39776"/>
            <a:ext cx="2528400" cy="2508600"/>
          </a:xfrm>
          <a:prstGeom prst="halfFrame">
            <a:avLst>
              <a:gd fmla="val 33333" name="adj1"/>
              <a:gd fmla="val 33333" name="adj2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9" name="Google Shape;149;p22"/>
          <p:cNvSpPr txBox="1"/>
          <p:nvPr/>
        </p:nvSpPr>
        <p:spPr>
          <a:xfrm>
            <a:off x="0" y="2047568"/>
            <a:ext cx="9144000" cy="4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Geometric">
  <a:themeElements>
    <a:clrScheme name="Geometric">
      <a:dk1>
        <a:srgbClr val="2A3990"/>
      </a:dk1>
      <a:lt1>
        <a:srgbClr val="FFFFFF"/>
      </a:lt1>
      <a:dk2>
        <a:srgbClr val="434343"/>
      </a:dk2>
      <a:lt2>
        <a:srgbClr val="999999"/>
      </a:lt2>
      <a:accent1>
        <a:srgbClr val="212D74"/>
      </a:accent1>
      <a:accent2>
        <a:srgbClr val="3949AB"/>
      </a:accent2>
      <a:accent3>
        <a:srgbClr val="9C254D"/>
      </a:accent3>
      <a:accent4>
        <a:srgbClr val="D23369"/>
      </a:accent4>
      <a:accent5>
        <a:srgbClr val="F06292"/>
      </a:accent5>
      <a:accent6>
        <a:srgbClr val="7890CD"/>
      </a:accent6>
      <a:hlink>
        <a:srgbClr val="F06292"/>
      </a:hlink>
      <a:folHlink>
        <a:srgbClr val="F0629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